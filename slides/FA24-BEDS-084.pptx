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0"/>
  </p:notesMasterIdLst>
  <p:sldIdLst>
    <p:sldId id="256" r:id="rId6"/>
    <p:sldId id="257" r:id="rId7"/>
    <p:sldId id="258" r:id="rId8"/>
    <p:sldId id="259" r:id="rId9"/>
  </p:sldIdLst>
  <p:sldSz cx="18288000" cy="10287000"/>
  <p:notesSz cx="6858000" cy="9144000"/>
  <p:embeddedFontLst>
    <p:embeddedFont>
      <p:font typeface="Calibri (MS)" charset="1" panose="020F0502020204030204"/>
      <p:regular r:id="rId13"/>
    </p:embeddedFont>
    <p:embeddedFont>
      <p:font typeface="Cambria Bold" charset="1" panose="02040803050406030204"/>
      <p:regular r:id="rId14"/>
    </p:embeddedFont>
    <p:embeddedFont>
      <p:font typeface="Calibri (MS) Bold" charset="1" panose="020F0702030404030204"/>
      <p:regular r:id="rId15"/>
    </p:embeddedFont>
    <p:embeddedFont>
      <p:font typeface="Calibri (MS) Italics" charset="1" panose="020F05020202040A0204"/>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notesMasters/notesMaster1.xml" Type="http://schemas.openxmlformats.org/officeDocument/2006/relationships/notesMaster"/><Relationship Id="rId11" Target="theme/theme2.xml" Type="http://schemas.openxmlformats.org/officeDocument/2006/relationships/theme"/><Relationship Id="rId12" Target="notesSlides/notesSlide1.xml" Type="http://schemas.openxmlformats.org/officeDocument/2006/relationships/notesSlide"/><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notesSlides/notesSlide2.xml" Type="http://schemas.openxmlformats.org/officeDocument/2006/relationships/notesSlide"/><Relationship Id="rId17" Target="notesSlides/notesSlide3.xml" Type="http://schemas.openxmlformats.org/officeDocument/2006/relationships/notesSlide"/><Relationship Id="rId18" Target="fonts/font18.fntdata" Type="http://schemas.openxmlformats.org/officeDocument/2006/relationships/font"/><Relationship Id="rId19" Target="notesSlides/notesSlide4.xml" Type="http://schemas.openxmlformats.org/officeDocument/2006/relationships/notesSlide"/><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Introduce yourself and the variant. My registration number ends in 084, 84 = 10 x 8 + 4, so variant 4: rural Khyber Pakhtunkhwa. I use the PSLM 2019-20 person file with household weights attached by hhid. Two samples: 13,200 persons aged 10-64 for literacy, and 4,912 students with education spending above zero. Everything is weighted by hhweight. Today: the makeover, the main finding, then how spending is distributed.</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Left is R's default: ggplot with geom_point and nothing else. Literate is 0 or 1, so 13,200 points sit on two stripes and overplot completely; you cannot see women versus men or any trend. The redesign fixes that in three ways. One, conditional means: the weighted literacy rate in each five-year band. Two, position on a common 0 to 100 percent scale, the channel the eye reads best, with a line per sex. Three, data-ink: direct labels instead of a legend, no grey panel, a title that states the finding. What the default shows that the redesign hides: single years of age and how many people are at each; a thin band would look as solid as a thick one, which is why the rule uses hollow markers for cells under 30 (none here).</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the finding I think matters most. Among girls and boys aged 15-19, 52.6 percent of women are literate against 85.1 percent of men. By ages 55-59 it is 2.9 percent of women against 43.0 percent of men. The gap grows from 26.9 points at ages 10-14 to a peak of 46.6 points at 45-49. Be honest: 35-39, 40-44 and 45-49 are within 0.05 points of each other, so the peak is really a plateau. It fits expanding schooling for younger cohorts, especially girls. But this is one cross-section of the 2019-20 survey, so it cannot separate an age effect from a cohort effect.</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Second view: how much households spend per student. Histogram on a log10 scale, bins 0.1 wide, density per log10 unit. Weighted median is Rs 7,000, the same as the unweighted median: both cross 50 percent exactly at Rs 7,000, where 134 students report that exact amount, and the weights hardly correlate with spending. The 10th and 90th percentiles are Rs 2,500 and Rs 25,000, a ratio of 10.00. Three students fall outside Rs 100 to Rs 1,000,000 and are left out of the histogram. Last, I recomputed the literacy band table in Python and the two tables agree to one decimal, women 15-19 is 52.6 percent in both. The one default that differed was how matplotlib saves SVG text (as outlines), which I changed to keep text as text.</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 Id="rId4" Target="../media/image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31812"/>
        </a:solidFill>
      </p:bgPr>
    </p:bg>
    <p:spTree>
      <p:nvGrpSpPr>
        <p:cNvPr id="1" name=""/>
        <p:cNvGrpSpPr/>
        <p:nvPr/>
      </p:nvGrpSpPr>
      <p:grpSpPr>
        <a:xfrm>
          <a:off x="0" y="0"/>
          <a:ext cx="0" cy="0"/>
          <a:chOff x="0" y="0"/>
          <a:chExt cx="0" cy="0"/>
        </a:xfrm>
      </p:grpSpPr>
      <p:grpSp>
        <p:nvGrpSpPr>
          <p:cNvPr name="Group 2" id="2"/>
          <p:cNvGrpSpPr/>
          <p:nvPr/>
        </p:nvGrpSpPr>
        <p:grpSpPr>
          <a:xfrm rot="0">
            <a:off x="1097280" y="9509760"/>
            <a:ext cx="10972800" cy="548640"/>
            <a:chOff x="0" y="0"/>
            <a:chExt cx="14630400" cy="731520"/>
          </a:xfrm>
        </p:grpSpPr>
        <p:sp>
          <p:nvSpPr>
            <p:cNvPr name="Freeform 3" id="3"/>
            <p:cNvSpPr/>
            <p:nvPr/>
          </p:nvSpPr>
          <p:spPr>
            <a:xfrm flipH="false" flipV="false" rot="0">
              <a:off x="0" y="0"/>
              <a:ext cx="14630400" cy="731520"/>
            </a:xfrm>
            <a:custGeom>
              <a:avLst/>
              <a:gdLst/>
              <a:ahLst/>
              <a:cxnLst/>
              <a:rect r="r" b="b" t="t" l="l"/>
              <a:pathLst>
                <a:path h="731520" w="14630400">
                  <a:moveTo>
                    <a:pt x="0" y="0"/>
                  </a:moveTo>
                  <a:lnTo>
                    <a:pt x="14630400" y="0"/>
                  </a:lnTo>
                  <a:lnTo>
                    <a:pt x="14630400" y="731520"/>
                  </a:lnTo>
                  <a:lnTo>
                    <a:pt x="0" y="731520"/>
                  </a:lnTo>
                  <a:close/>
                </a:path>
              </a:pathLst>
            </a:custGeom>
            <a:blipFill>
              <a:blip r:embed="rId3">
                <a:alphaModFix amt="0"/>
              </a:blip>
              <a:stretch>
                <a:fillRect l="0" t="-339700" r="0" b="-339700"/>
              </a:stretch>
            </a:blipFill>
          </p:spPr>
        </p:sp>
        <p:sp>
          <p:nvSpPr>
            <p:cNvPr name="TextBox 4" id="4"/>
            <p:cNvSpPr txBox="true"/>
            <p:nvPr/>
          </p:nvSpPr>
          <p:spPr>
            <a:xfrm>
              <a:off x="0" y="-38100"/>
              <a:ext cx="14630400" cy="769620"/>
            </a:xfrm>
            <a:prstGeom prst="rect">
              <a:avLst/>
            </a:prstGeom>
          </p:spPr>
          <p:txBody>
            <a:bodyPr anchor="ctr" rtlCol="false" tIns="0" lIns="0" bIns="0" rIns="0"/>
            <a:lstStyle/>
            <a:p>
              <a:pPr algn="l">
                <a:lnSpc>
                  <a:spcPts val="2400"/>
                </a:lnSpc>
              </a:pPr>
              <a:r>
                <a:rPr lang="en-US" sz="2000">
                  <a:solidFill>
                    <a:srgbClr val="EAF1F5"/>
                  </a:solidFill>
                  <a:latin typeface="Calibri (MS)"/>
                  <a:ea typeface="Calibri (MS)"/>
                  <a:cs typeface="Calibri (MS)"/>
                  <a:sym typeface="Calibri (MS)"/>
                </a:rPr>
                <a:t>ECO346 · Assignment 1 · FA24-BEDS-084</a:t>
              </a:r>
            </a:p>
          </p:txBody>
        </p:sp>
      </p:grpSp>
      <p:sp>
        <p:nvSpPr>
          <p:cNvPr name="TextBox 5" id="5"/>
          <p:cNvSpPr txBox="true"/>
          <p:nvPr/>
        </p:nvSpPr>
        <p:spPr>
          <a:xfrm rot="0">
            <a:off x="1097280" y="1087755"/>
            <a:ext cx="16093440" cy="3118485"/>
          </a:xfrm>
          <a:prstGeom prst="rect">
            <a:avLst/>
          </a:prstGeom>
        </p:spPr>
        <p:txBody>
          <a:bodyPr anchor="t" rtlCol="false" tIns="0" lIns="0" bIns="0" rIns="0">
            <a:spAutoFit/>
          </a:bodyPr>
          <a:lstStyle/>
          <a:p>
            <a:pPr algn="l">
              <a:lnSpc>
                <a:spcPts val="9600"/>
              </a:lnSpc>
            </a:pPr>
            <a:r>
              <a:rPr lang="en-US" sz="8000" b="true">
                <a:solidFill>
                  <a:srgbClr val="FFFFFF"/>
                </a:solidFill>
                <a:latin typeface="Cambria Bold"/>
                <a:ea typeface="Cambria Bold"/>
                <a:cs typeface="Cambria Bold"/>
                <a:sym typeface="Cambria Bold"/>
              </a:rPr>
              <a:t>Education spending and literacy in rural Khyber Pakhtunkhwa</a:t>
            </a:r>
          </a:p>
        </p:txBody>
      </p:sp>
      <p:grpSp>
        <p:nvGrpSpPr>
          <p:cNvPr name="Group 6" id="6"/>
          <p:cNvGrpSpPr/>
          <p:nvPr/>
        </p:nvGrpSpPr>
        <p:grpSpPr>
          <a:xfrm rot="0">
            <a:off x="1097280" y="4480560"/>
            <a:ext cx="16093440" cy="731520"/>
            <a:chOff x="0" y="0"/>
            <a:chExt cx="21457920" cy="975360"/>
          </a:xfrm>
        </p:grpSpPr>
        <p:sp>
          <p:nvSpPr>
            <p:cNvPr name="Freeform 7" id="7"/>
            <p:cNvSpPr/>
            <p:nvPr/>
          </p:nvSpPr>
          <p:spPr>
            <a:xfrm flipH="false" flipV="false" rot="0">
              <a:off x="0" y="0"/>
              <a:ext cx="21457920" cy="975360"/>
            </a:xfrm>
            <a:custGeom>
              <a:avLst/>
              <a:gdLst/>
              <a:ahLst/>
              <a:cxnLst/>
              <a:rect r="r" b="b" t="t" l="l"/>
              <a:pathLst>
                <a:path h="975360" w="21457920">
                  <a:moveTo>
                    <a:pt x="0" y="0"/>
                  </a:moveTo>
                  <a:lnTo>
                    <a:pt x="21457920" y="0"/>
                  </a:lnTo>
                  <a:lnTo>
                    <a:pt x="21457920" y="975360"/>
                  </a:lnTo>
                  <a:lnTo>
                    <a:pt x="0" y="975360"/>
                  </a:lnTo>
                  <a:close/>
                </a:path>
              </a:pathLst>
            </a:custGeom>
            <a:blipFill>
              <a:blip r:embed="rId3">
                <a:alphaModFix amt="0"/>
              </a:blip>
              <a:stretch>
                <a:fillRect l="0" t="-378670" r="0" b="-378670"/>
              </a:stretch>
            </a:blipFill>
          </p:spPr>
        </p:sp>
        <p:sp>
          <p:nvSpPr>
            <p:cNvPr name="TextBox 8" id="8"/>
            <p:cNvSpPr txBox="true"/>
            <p:nvPr/>
          </p:nvSpPr>
          <p:spPr>
            <a:xfrm>
              <a:off x="0" y="-57150"/>
              <a:ext cx="21457920" cy="1032510"/>
            </a:xfrm>
            <a:prstGeom prst="rect">
              <a:avLst/>
            </a:prstGeom>
          </p:spPr>
          <p:txBody>
            <a:bodyPr anchor="ctr" rtlCol="false" tIns="0" lIns="0" bIns="0" rIns="0"/>
            <a:lstStyle/>
            <a:p>
              <a:pPr algn="l">
                <a:lnSpc>
                  <a:spcPts val="3840"/>
                </a:lnSpc>
              </a:pPr>
              <a:r>
                <a:rPr lang="en-US" sz="3200">
                  <a:solidFill>
                    <a:srgbClr val="EAF1F5"/>
                  </a:solidFill>
                  <a:latin typeface="Calibri (MS)"/>
                  <a:ea typeface="Calibri (MS)"/>
                  <a:cs typeface="Calibri (MS)"/>
                  <a:sym typeface="Calibri (MS)"/>
                </a:rPr>
                <a:t>ECO346 Assignment 1 · Ayesha Abbas · FA24-BEDS-084 · Section B</a:t>
              </a:r>
            </a:p>
          </p:txBody>
        </p:sp>
      </p:grpSp>
      <p:grpSp>
        <p:nvGrpSpPr>
          <p:cNvPr name="Group 9" id="9"/>
          <p:cNvGrpSpPr/>
          <p:nvPr/>
        </p:nvGrpSpPr>
        <p:grpSpPr>
          <a:xfrm rot="0">
            <a:off x="1097280" y="5852160"/>
            <a:ext cx="4937760" cy="2651760"/>
            <a:chOff x="0" y="0"/>
            <a:chExt cx="6583680" cy="3535680"/>
          </a:xfrm>
        </p:grpSpPr>
        <p:sp>
          <p:nvSpPr>
            <p:cNvPr name="Freeform 10" id="10"/>
            <p:cNvSpPr/>
            <p:nvPr/>
          </p:nvSpPr>
          <p:spPr>
            <a:xfrm flipH="false" flipV="false" rot="0">
              <a:off x="0" y="0"/>
              <a:ext cx="6583680" cy="3535680"/>
            </a:xfrm>
            <a:custGeom>
              <a:avLst/>
              <a:gdLst/>
              <a:ahLst/>
              <a:cxnLst/>
              <a:rect r="r" b="b" t="t" l="l"/>
              <a:pathLst>
                <a:path h="3535680" w="6583680">
                  <a:moveTo>
                    <a:pt x="0" y="195072"/>
                  </a:moveTo>
                  <a:cubicBezTo>
                    <a:pt x="0" y="87376"/>
                    <a:pt x="87376" y="0"/>
                    <a:pt x="195072" y="0"/>
                  </a:cubicBezTo>
                  <a:lnTo>
                    <a:pt x="6388608" y="0"/>
                  </a:lnTo>
                  <a:cubicBezTo>
                    <a:pt x="6496304" y="0"/>
                    <a:pt x="6583680" y="87376"/>
                    <a:pt x="6583680" y="195072"/>
                  </a:cubicBezTo>
                  <a:lnTo>
                    <a:pt x="6583680" y="3340608"/>
                  </a:lnTo>
                  <a:cubicBezTo>
                    <a:pt x="6583680" y="3448304"/>
                    <a:pt x="6496304" y="3535680"/>
                    <a:pt x="6388608" y="3535680"/>
                  </a:cubicBezTo>
                  <a:lnTo>
                    <a:pt x="195072" y="3535680"/>
                  </a:lnTo>
                  <a:cubicBezTo>
                    <a:pt x="87376" y="3535680"/>
                    <a:pt x="0" y="3448304"/>
                    <a:pt x="0" y="3340608"/>
                  </a:cubicBezTo>
                  <a:close/>
                </a:path>
              </a:pathLst>
            </a:custGeom>
            <a:solidFill>
              <a:srgbClr val="4E7A51"/>
            </a:solidFill>
          </p:spPr>
        </p:sp>
      </p:grpSp>
      <p:grpSp>
        <p:nvGrpSpPr>
          <p:cNvPr name="Group 11" id="11"/>
          <p:cNvGrpSpPr/>
          <p:nvPr/>
        </p:nvGrpSpPr>
        <p:grpSpPr>
          <a:xfrm rot="0">
            <a:off x="1463040" y="6035040"/>
            <a:ext cx="4206240" cy="2286000"/>
            <a:chOff x="0" y="0"/>
            <a:chExt cx="5608320" cy="3048000"/>
          </a:xfrm>
        </p:grpSpPr>
        <p:sp>
          <p:nvSpPr>
            <p:cNvPr name="Freeform 12" id="12"/>
            <p:cNvSpPr/>
            <p:nvPr/>
          </p:nvSpPr>
          <p:spPr>
            <a:xfrm flipH="false" flipV="false" rot="0">
              <a:off x="0" y="0"/>
              <a:ext cx="5608320" cy="3048000"/>
            </a:xfrm>
            <a:custGeom>
              <a:avLst/>
              <a:gdLst/>
              <a:ahLst/>
              <a:cxnLst/>
              <a:rect r="r" b="b" t="t" l="l"/>
              <a:pathLst>
                <a:path h="3048000" w="5608320">
                  <a:moveTo>
                    <a:pt x="0" y="0"/>
                  </a:moveTo>
                  <a:lnTo>
                    <a:pt x="5608320" y="0"/>
                  </a:lnTo>
                  <a:lnTo>
                    <a:pt x="5608320" y="3048000"/>
                  </a:lnTo>
                  <a:lnTo>
                    <a:pt x="0" y="3048000"/>
                  </a:lnTo>
                  <a:close/>
                </a:path>
              </a:pathLst>
            </a:custGeom>
            <a:blipFill>
              <a:blip r:embed="rId3">
                <a:alphaModFix amt="0"/>
              </a:blip>
              <a:stretch>
                <a:fillRect l="-19730" t="0" r="-19730" b="0"/>
              </a:stretch>
            </a:blipFill>
          </p:spPr>
        </p:sp>
        <p:sp>
          <p:nvSpPr>
            <p:cNvPr name="TextBox 13" id="13"/>
            <p:cNvSpPr txBox="true"/>
            <p:nvPr/>
          </p:nvSpPr>
          <p:spPr>
            <a:xfrm>
              <a:off x="0" y="-142875"/>
              <a:ext cx="5608320" cy="3190875"/>
            </a:xfrm>
            <a:prstGeom prst="rect">
              <a:avLst/>
            </a:prstGeom>
          </p:spPr>
          <p:txBody>
            <a:bodyPr anchor="ctr" rtlCol="false" tIns="0" lIns="0" bIns="0" rIns="0"/>
            <a:lstStyle/>
            <a:p>
              <a:pPr algn="l">
                <a:lnSpc>
                  <a:spcPts val="7679"/>
                </a:lnSpc>
              </a:pPr>
              <a:r>
                <a:rPr lang="en-US" sz="6399" b="true">
                  <a:solidFill>
                    <a:srgbClr val="FFFFFF"/>
                  </a:solidFill>
                  <a:latin typeface="Calibri (MS) Bold"/>
                  <a:ea typeface="Calibri (MS) Bold"/>
                  <a:cs typeface="Calibri (MS) Bold"/>
                  <a:sym typeface="Calibri (MS) Bold"/>
                </a:rPr>
                <a:t>Variant 4</a:t>
              </a:r>
            </a:p>
            <a:p>
              <a:pPr algn="l">
                <a:lnSpc>
                  <a:spcPts val="2879"/>
                </a:lnSpc>
              </a:pPr>
              <a:r>
                <a:rPr lang="en-US" sz="2400">
                  <a:solidFill>
                    <a:srgbClr val="EAF1F5"/>
                  </a:solidFill>
                  <a:latin typeface="Calibri (MS)"/>
                  <a:ea typeface="Calibri (MS)"/>
                  <a:cs typeface="Calibri (MS)"/>
                  <a:sym typeface="Calibri (MS)"/>
                </a:rPr>
                <a:t>KP rural (prov_code 1, urban_rural 1)</a:t>
              </a:r>
            </a:p>
          </p:txBody>
        </p:sp>
      </p:grpSp>
      <p:grpSp>
        <p:nvGrpSpPr>
          <p:cNvPr name="Group 14" id="14"/>
          <p:cNvGrpSpPr/>
          <p:nvPr/>
        </p:nvGrpSpPr>
        <p:grpSpPr>
          <a:xfrm rot="0">
            <a:off x="6675120" y="5852160"/>
            <a:ext cx="4937760" cy="2651760"/>
            <a:chOff x="0" y="0"/>
            <a:chExt cx="6583680" cy="3535680"/>
          </a:xfrm>
        </p:grpSpPr>
        <p:sp>
          <p:nvSpPr>
            <p:cNvPr name="Freeform 15" id="15"/>
            <p:cNvSpPr/>
            <p:nvPr/>
          </p:nvSpPr>
          <p:spPr>
            <a:xfrm flipH="false" flipV="false" rot="0">
              <a:off x="0" y="0"/>
              <a:ext cx="6583680" cy="3535680"/>
            </a:xfrm>
            <a:custGeom>
              <a:avLst/>
              <a:gdLst/>
              <a:ahLst/>
              <a:cxnLst/>
              <a:rect r="r" b="b" t="t" l="l"/>
              <a:pathLst>
                <a:path h="3535680" w="6583680">
                  <a:moveTo>
                    <a:pt x="0" y="195072"/>
                  </a:moveTo>
                  <a:cubicBezTo>
                    <a:pt x="0" y="87376"/>
                    <a:pt x="87376" y="0"/>
                    <a:pt x="195072" y="0"/>
                  </a:cubicBezTo>
                  <a:lnTo>
                    <a:pt x="6388608" y="0"/>
                  </a:lnTo>
                  <a:cubicBezTo>
                    <a:pt x="6496304" y="0"/>
                    <a:pt x="6583680" y="87376"/>
                    <a:pt x="6583680" y="195072"/>
                  </a:cubicBezTo>
                  <a:lnTo>
                    <a:pt x="6583680" y="3340608"/>
                  </a:lnTo>
                  <a:cubicBezTo>
                    <a:pt x="6583680" y="3448304"/>
                    <a:pt x="6496304" y="3535680"/>
                    <a:pt x="6388608" y="3535680"/>
                  </a:cubicBezTo>
                  <a:lnTo>
                    <a:pt x="195072" y="3535680"/>
                  </a:lnTo>
                  <a:cubicBezTo>
                    <a:pt x="87376" y="3535680"/>
                    <a:pt x="0" y="3448304"/>
                    <a:pt x="0" y="3340608"/>
                  </a:cubicBezTo>
                  <a:close/>
                </a:path>
              </a:pathLst>
            </a:custGeom>
            <a:solidFill>
              <a:srgbClr val="4E7A51"/>
            </a:solidFill>
          </p:spPr>
        </p:sp>
      </p:grpSp>
      <p:grpSp>
        <p:nvGrpSpPr>
          <p:cNvPr name="Group 16" id="16"/>
          <p:cNvGrpSpPr/>
          <p:nvPr/>
        </p:nvGrpSpPr>
        <p:grpSpPr>
          <a:xfrm rot="0">
            <a:off x="7040880" y="6035040"/>
            <a:ext cx="4206240" cy="2286000"/>
            <a:chOff x="0" y="0"/>
            <a:chExt cx="5608320" cy="3048000"/>
          </a:xfrm>
        </p:grpSpPr>
        <p:sp>
          <p:nvSpPr>
            <p:cNvPr name="Freeform 17" id="17"/>
            <p:cNvSpPr/>
            <p:nvPr/>
          </p:nvSpPr>
          <p:spPr>
            <a:xfrm flipH="false" flipV="false" rot="0">
              <a:off x="0" y="0"/>
              <a:ext cx="5608320" cy="3048000"/>
            </a:xfrm>
            <a:custGeom>
              <a:avLst/>
              <a:gdLst/>
              <a:ahLst/>
              <a:cxnLst/>
              <a:rect r="r" b="b" t="t" l="l"/>
              <a:pathLst>
                <a:path h="3048000" w="5608320">
                  <a:moveTo>
                    <a:pt x="0" y="0"/>
                  </a:moveTo>
                  <a:lnTo>
                    <a:pt x="5608320" y="0"/>
                  </a:lnTo>
                  <a:lnTo>
                    <a:pt x="5608320" y="3048000"/>
                  </a:lnTo>
                  <a:lnTo>
                    <a:pt x="0" y="3048000"/>
                  </a:lnTo>
                  <a:close/>
                </a:path>
              </a:pathLst>
            </a:custGeom>
            <a:blipFill>
              <a:blip r:embed="rId3">
                <a:alphaModFix amt="0"/>
              </a:blip>
              <a:stretch>
                <a:fillRect l="-19730" t="0" r="-19730" b="0"/>
              </a:stretch>
            </a:blipFill>
          </p:spPr>
        </p:sp>
        <p:sp>
          <p:nvSpPr>
            <p:cNvPr name="TextBox 18" id="18"/>
            <p:cNvSpPr txBox="true"/>
            <p:nvPr/>
          </p:nvSpPr>
          <p:spPr>
            <a:xfrm>
              <a:off x="0" y="-142875"/>
              <a:ext cx="5608320" cy="3190875"/>
            </a:xfrm>
            <a:prstGeom prst="rect">
              <a:avLst/>
            </a:prstGeom>
          </p:spPr>
          <p:txBody>
            <a:bodyPr anchor="ctr" rtlCol="false" tIns="0" lIns="0" bIns="0" rIns="0"/>
            <a:lstStyle/>
            <a:p>
              <a:pPr algn="l">
                <a:lnSpc>
                  <a:spcPts val="7679"/>
                </a:lnSpc>
              </a:pPr>
              <a:r>
                <a:rPr lang="en-US" sz="6399" b="true">
                  <a:solidFill>
                    <a:srgbClr val="FFFFFF"/>
                  </a:solidFill>
                  <a:latin typeface="Calibri (MS) Bold"/>
                  <a:ea typeface="Calibri (MS) Bold"/>
                  <a:cs typeface="Calibri (MS) Bold"/>
                  <a:sym typeface="Calibri (MS) Bold"/>
                </a:rPr>
                <a:t>13,200</a:t>
              </a:r>
            </a:p>
            <a:p>
              <a:pPr algn="l">
                <a:lnSpc>
                  <a:spcPts val="2879"/>
                </a:lnSpc>
              </a:pPr>
              <a:r>
                <a:rPr lang="en-US" sz="2400">
                  <a:solidFill>
                    <a:srgbClr val="EAF1F5"/>
                  </a:solidFill>
                  <a:latin typeface="Calibri (MS)"/>
                  <a:ea typeface="Calibri (MS)"/>
                  <a:cs typeface="Calibri (MS)"/>
                  <a:sym typeface="Calibri (MS)"/>
                </a:rPr>
                <a:t>persons aged 10–64 with a literacy answer</a:t>
              </a:r>
            </a:p>
          </p:txBody>
        </p:sp>
      </p:grpSp>
      <p:grpSp>
        <p:nvGrpSpPr>
          <p:cNvPr name="Group 19" id="19"/>
          <p:cNvGrpSpPr/>
          <p:nvPr/>
        </p:nvGrpSpPr>
        <p:grpSpPr>
          <a:xfrm rot="0">
            <a:off x="12252960" y="5852160"/>
            <a:ext cx="4937760" cy="2651760"/>
            <a:chOff x="0" y="0"/>
            <a:chExt cx="6583680" cy="3535680"/>
          </a:xfrm>
        </p:grpSpPr>
        <p:sp>
          <p:nvSpPr>
            <p:cNvPr name="Freeform 20" id="20"/>
            <p:cNvSpPr/>
            <p:nvPr/>
          </p:nvSpPr>
          <p:spPr>
            <a:xfrm flipH="false" flipV="false" rot="0">
              <a:off x="0" y="0"/>
              <a:ext cx="6583680" cy="3535680"/>
            </a:xfrm>
            <a:custGeom>
              <a:avLst/>
              <a:gdLst/>
              <a:ahLst/>
              <a:cxnLst/>
              <a:rect r="r" b="b" t="t" l="l"/>
              <a:pathLst>
                <a:path h="3535680" w="6583680">
                  <a:moveTo>
                    <a:pt x="0" y="195072"/>
                  </a:moveTo>
                  <a:cubicBezTo>
                    <a:pt x="0" y="87376"/>
                    <a:pt x="87376" y="0"/>
                    <a:pt x="195072" y="0"/>
                  </a:cubicBezTo>
                  <a:lnTo>
                    <a:pt x="6388608" y="0"/>
                  </a:lnTo>
                  <a:cubicBezTo>
                    <a:pt x="6496304" y="0"/>
                    <a:pt x="6583680" y="87376"/>
                    <a:pt x="6583680" y="195072"/>
                  </a:cubicBezTo>
                  <a:lnTo>
                    <a:pt x="6583680" y="3340608"/>
                  </a:lnTo>
                  <a:cubicBezTo>
                    <a:pt x="6583680" y="3448304"/>
                    <a:pt x="6496304" y="3535680"/>
                    <a:pt x="6388608" y="3535680"/>
                  </a:cubicBezTo>
                  <a:lnTo>
                    <a:pt x="195072" y="3535680"/>
                  </a:lnTo>
                  <a:cubicBezTo>
                    <a:pt x="87376" y="3535680"/>
                    <a:pt x="0" y="3448304"/>
                    <a:pt x="0" y="3340608"/>
                  </a:cubicBezTo>
                  <a:close/>
                </a:path>
              </a:pathLst>
            </a:custGeom>
            <a:solidFill>
              <a:srgbClr val="4E7A51"/>
            </a:solidFill>
          </p:spPr>
        </p:sp>
      </p:grpSp>
      <p:grpSp>
        <p:nvGrpSpPr>
          <p:cNvPr name="Group 21" id="21"/>
          <p:cNvGrpSpPr/>
          <p:nvPr/>
        </p:nvGrpSpPr>
        <p:grpSpPr>
          <a:xfrm rot="0">
            <a:off x="12618720" y="6035040"/>
            <a:ext cx="4206240" cy="2286000"/>
            <a:chOff x="0" y="0"/>
            <a:chExt cx="5608320" cy="3048000"/>
          </a:xfrm>
        </p:grpSpPr>
        <p:sp>
          <p:nvSpPr>
            <p:cNvPr name="Freeform 22" id="22"/>
            <p:cNvSpPr/>
            <p:nvPr/>
          </p:nvSpPr>
          <p:spPr>
            <a:xfrm flipH="false" flipV="false" rot="0">
              <a:off x="0" y="0"/>
              <a:ext cx="5608320" cy="3048000"/>
            </a:xfrm>
            <a:custGeom>
              <a:avLst/>
              <a:gdLst/>
              <a:ahLst/>
              <a:cxnLst/>
              <a:rect r="r" b="b" t="t" l="l"/>
              <a:pathLst>
                <a:path h="3048000" w="5608320">
                  <a:moveTo>
                    <a:pt x="0" y="0"/>
                  </a:moveTo>
                  <a:lnTo>
                    <a:pt x="5608320" y="0"/>
                  </a:lnTo>
                  <a:lnTo>
                    <a:pt x="5608320" y="3048000"/>
                  </a:lnTo>
                  <a:lnTo>
                    <a:pt x="0" y="3048000"/>
                  </a:lnTo>
                  <a:close/>
                </a:path>
              </a:pathLst>
            </a:custGeom>
            <a:blipFill>
              <a:blip r:embed="rId3">
                <a:alphaModFix amt="0"/>
              </a:blip>
              <a:stretch>
                <a:fillRect l="-19730" t="0" r="-19730" b="0"/>
              </a:stretch>
            </a:blipFill>
          </p:spPr>
        </p:sp>
        <p:sp>
          <p:nvSpPr>
            <p:cNvPr name="TextBox 23" id="23"/>
            <p:cNvSpPr txBox="true"/>
            <p:nvPr/>
          </p:nvSpPr>
          <p:spPr>
            <a:xfrm>
              <a:off x="0" y="-142875"/>
              <a:ext cx="5608320" cy="3190875"/>
            </a:xfrm>
            <a:prstGeom prst="rect">
              <a:avLst/>
            </a:prstGeom>
          </p:spPr>
          <p:txBody>
            <a:bodyPr anchor="ctr" rtlCol="false" tIns="0" lIns="0" bIns="0" rIns="0"/>
            <a:lstStyle/>
            <a:p>
              <a:pPr algn="l">
                <a:lnSpc>
                  <a:spcPts val="7679"/>
                </a:lnSpc>
              </a:pPr>
              <a:r>
                <a:rPr lang="en-US" sz="6399" b="true">
                  <a:solidFill>
                    <a:srgbClr val="FFFFFF"/>
                  </a:solidFill>
                  <a:latin typeface="Calibri (MS) Bold"/>
                  <a:ea typeface="Calibri (MS) Bold"/>
                  <a:cs typeface="Calibri (MS) Bold"/>
                  <a:sym typeface="Calibri (MS) Bold"/>
                </a:rPr>
                <a:t>4,912</a:t>
              </a:r>
            </a:p>
            <a:p>
              <a:pPr algn="l">
                <a:lnSpc>
                  <a:spcPts val="2879"/>
                </a:lnSpc>
              </a:pPr>
              <a:r>
                <a:rPr lang="en-US" sz="2400">
                  <a:solidFill>
                    <a:srgbClr val="EAF1F5"/>
                  </a:solidFill>
                  <a:latin typeface="Calibri (MS)"/>
                  <a:ea typeface="Calibri (MS)"/>
                  <a:cs typeface="Calibri (MS)"/>
                  <a:sym typeface="Calibri (MS)"/>
                </a:rPr>
                <a:t>students with education spending above zero</a:t>
              </a:r>
            </a:p>
          </p:txBody>
        </p:sp>
      </p:grpSp>
      <p:grpSp>
        <p:nvGrpSpPr>
          <p:cNvPr name="Group 24" id="24"/>
          <p:cNvGrpSpPr/>
          <p:nvPr/>
        </p:nvGrpSpPr>
        <p:grpSpPr>
          <a:xfrm rot="0">
            <a:off x="1097280" y="8869680"/>
            <a:ext cx="16093440" cy="548640"/>
            <a:chOff x="0" y="0"/>
            <a:chExt cx="21457920" cy="731520"/>
          </a:xfrm>
        </p:grpSpPr>
        <p:sp>
          <p:nvSpPr>
            <p:cNvPr name="Freeform 25" id="25"/>
            <p:cNvSpPr/>
            <p:nvPr/>
          </p:nvSpPr>
          <p:spPr>
            <a:xfrm flipH="false" flipV="false" rot="0">
              <a:off x="0" y="0"/>
              <a:ext cx="21457920" cy="731520"/>
            </a:xfrm>
            <a:custGeom>
              <a:avLst/>
              <a:gdLst/>
              <a:ahLst/>
              <a:cxnLst/>
              <a:rect r="r" b="b" t="t" l="l"/>
              <a:pathLst>
                <a:path h="731520" w="21457920">
                  <a:moveTo>
                    <a:pt x="0" y="0"/>
                  </a:moveTo>
                  <a:lnTo>
                    <a:pt x="21457920" y="0"/>
                  </a:lnTo>
                  <a:lnTo>
                    <a:pt x="21457920" y="731520"/>
                  </a:lnTo>
                  <a:lnTo>
                    <a:pt x="0" y="731520"/>
                  </a:lnTo>
                  <a:close/>
                </a:path>
              </a:pathLst>
            </a:custGeom>
            <a:blipFill>
              <a:blip r:embed="rId3">
                <a:alphaModFix amt="0"/>
              </a:blip>
              <a:stretch>
                <a:fillRect l="0" t="-521561" r="0" b="-521561"/>
              </a:stretch>
            </a:blipFill>
          </p:spPr>
        </p:sp>
        <p:sp>
          <p:nvSpPr>
            <p:cNvPr name="TextBox 26" id="26"/>
            <p:cNvSpPr txBox="true"/>
            <p:nvPr/>
          </p:nvSpPr>
          <p:spPr>
            <a:xfrm>
              <a:off x="0" y="-38100"/>
              <a:ext cx="21457920" cy="769620"/>
            </a:xfrm>
            <a:prstGeom prst="rect">
              <a:avLst/>
            </a:prstGeom>
          </p:spPr>
          <p:txBody>
            <a:bodyPr anchor="ctr" rtlCol="false" tIns="0" lIns="0" bIns="0" rIns="0"/>
            <a:lstStyle/>
            <a:p>
              <a:pPr algn="l">
                <a:lnSpc>
                  <a:spcPts val="2879"/>
                </a:lnSpc>
              </a:pPr>
              <a:r>
                <a:rPr lang="en-US" sz="2400">
                  <a:solidFill>
                    <a:srgbClr val="EAF1F5"/>
                  </a:solidFill>
                  <a:latin typeface="Calibri (MS)"/>
                  <a:ea typeface="Calibri (MS)"/>
                  <a:cs typeface="Calibri (MS)"/>
                  <a:sym typeface="Calibri (MS)"/>
                </a:rPr>
                <a:t>Source: PSLM 2019–20. Every statistic is weighted by hhweight.</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4400" y="9509760"/>
            <a:ext cx="10972800" cy="548640"/>
            <a:chOff x="0" y="0"/>
            <a:chExt cx="14630400" cy="731520"/>
          </a:xfrm>
        </p:grpSpPr>
        <p:sp>
          <p:nvSpPr>
            <p:cNvPr name="Freeform 3" id="3"/>
            <p:cNvSpPr/>
            <p:nvPr/>
          </p:nvSpPr>
          <p:spPr>
            <a:xfrm flipH="false" flipV="false" rot="0">
              <a:off x="0" y="0"/>
              <a:ext cx="14630400" cy="731520"/>
            </a:xfrm>
            <a:custGeom>
              <a:avLst/>
              <a:gdLst/>
              <a:ahLst/>
              <a:cxnLst/>
              <a:rect r="r" b="b" t="t" l="l"/>
              <a:pathLst>
                <a:path h="731520" w="14630400">
                  <a:moveTo>
                    <a:pt x="0" y="0"/>
                  </a:moveTo>
                  <a:lnTo>
                    <a:pt x="14630400" y="0"/>
                  </a:lnTo>
                  <a:lnTo>
                    <a:pt x="14630400" y="731520"/>
                  </a:lnTo>
                  <a:lnTo>
                    <a:pt x="0" y="731520"/>
                  </a:lnTo>
                  <a:close/>
                </a:path>
              </a:pathLst>
            </a:custGeom>
            <a:blipFill>
              <a:blip r:embed="rId3">
                <a:alphaModFix amt="0"/>
              </a:blip>
              <a:stretch>
                <a:fillRect l="0" t="-339700" r="0" b="-339700"/>
              </a:stretch>
            </a:blipFill>
          </p:spPr>
        </p:sp>
        <p:sp>
          <p:nvSpPr>
            <p:cNvPr name="TextBox 4" id="4"/>
            <p:cNvSpPr txBox="true"/>
            <p:nvPr/>
          </p:nvSpPr>
          <p:spPr>
            <a:xfrm>
              <a:off x="0" y="-38100"/>
              <a:ext cx="14630400" cy="769620"/>
            </a:xfrm>
            <a:prstGeom prst="rect">
              <a:avLst/>
            </a:prstGeom>
          </p:spPr>
          <p:txBody>
            <a:bodyPr anchor="ctr" rtlCol="false" tIns="0" lIns="0" bIns="0" rIns="0"/>
            <a:lstStyle/>
            <a:p>
              <a:pPr algn="l">
                <a:lnSpc>
                  <a:spcPts val="2400"/>
                </a:lnSpc>
              </a:pPr>
              <a:r>
                <a:rPr lang="en-US" sz="2000">
                  <a:solidFill>
                    <a:srgbClr val="031812"/>
                  </a:solidFill>
                  <a:latin typeface="Calibri (MS)"/>
                  <a:ea typeface="Calibri (MS)"/>
                  <a:cs typeface="Calibri (MS)"/>
                  <a:sym typeface="Calibri (MS)"/>
                </a:rPr>
                <a:t>ECO346 · Assignment 1 · FA24-BEDS-084</a:t>
              </a:r>
            </a:p>
          </p:txBody>
        </p:sp>
      </p:grpSp>
      <p:sp>
        <p:nvSpPr>
          <p:cNvPr name="TextBox 5" id="5"/>
          <p:cNvSpPr txBox="true"/>
          <p:nvPr/>
        </p:nvSpPr>
        <p:spPr>
          <a:xfrm rot="0">
            <a:off x="914400" y="539115"/>
            <a:ext cx="16459200" cy="1746885"/>
          </a:xfrm>
          <a:prstGeom prst="rect">
            <a:avLst/>
          </a:prstGeom>
        </p:spPr>
        <p:txBody>
          <a:bodyPr anchor="t" rtlCol="false" tIns="0" lIns="0" bIns="0" rIns="0">
            <a:spAutoFit/>
          </a:bodyPr>
          <a:lstStyle/>
          <a:p>
            <a:pPr algn="l">
              <a:lnSpc>
                <a:spcPts val="6720"/>
              </a:lnSpc>
            </a:pPr>
            <a:r>
              <a:rPr lang="en-US" b="true" sz="5600">
                <a:solidFill>
                  <a:srgbClr val="031812"/>
                </a:solidFill>
                <a:latin typeface="Cambria Bold"/>
                <a:ea typeface="Cambria Bold"/>
                <a:cs typeface="Cambria Bold"/>
                <a:sym typeface="Cambria Bold"/>
              </a:rPr>
              <a:t>Makeover: from 13,200 dots to two lines</a:t>
            </a:r>
          </a:p>
        </p:txBody>
      </p:sp>
      <p:grpSp>
        <p:nvGrpSpPr>
          <p:cNvPr name="Group 6" id="6"/>
          <p:cNvGrpSpPr/>
          <p:nvPr/>
        </p:nvGrpSpPr>
        <p:grpSpPr>
          <a:xfrm rot="0">
            <a:off x="914400" y="2194560"/>
            <a:ext cx="7680960" cy="548640"/>
            <a:chOff x="0" y="0"/>
            <a:chExt cx="10241280" cy="731520"/>
          </a:xfrm>
        </p:grpSpPr>
        <p:sp>
          <p:nvSpPr>
            <p:cNvPr name="Freeform 7" id="7"/>
            <p:cNvSpPr/>
            <p:nvPr/>
          </p:nvSpPr>
          <p:spPr>
            <a:xfrm flipH="false" flipV="false" rot="0">
              <a:off x="0" y="0"/>
              <a:ext cx="10241280" cy="731520"/>
            </a:xfrm>
            <a:custGeom>
              <a:avLst/>
              <a:gdLst/>
              <a:ahLst/>
              <a:cxnLst/>
              <a:rect r="r" b="b" t="t" l="l"/>
              <a:pathLst>
                <a:path h="731520" w="10241280">
                  <a:moveTo>
                    <a:pt x="0" y="0"/>
                  </a:moveTo>
                  <a:lnTo>
                    <a:pt x="10241280" y="0"/>
                  </a:lnTo>
                  <a:lnTo>
                    <a:pt x="10241280" y="731520"/>
                  </a:lnTo>
                  <a:lnTo>
                    <a:pt x="0" y="731520"/>
                  </a:lnTo>
                  <a:close/>
                </a:path>
              </a:pathLst>
            </a:custGeom>
            <a:blipFill>
              <a:blip r:embed="rId3">
                <a:alphaModFix amt="0"/>
              </a:blip>
              <a:stretch>
                <a:fillRect l="0" t="-222790" r="0" b="-222790"/>
              </a:stretch>
            </a:blipFill>
          </p:spPr>
        </p:sp>
        <p:sp>
          <p:nvSpPr>
            <p:cNvPr name="TextBox 8" id="8"/>
            <p:cNvSpPr txBox="true"/>
            <p:nvPr/>
          </p:nvSpPr>
          <p:spPr>
            <a:xfrm>
              <a:off x="0" y="-66675"/>
              <a:ext cx="10241280" cy="798195"/>
            </a:xfrm>
            <a:prstGeom prst="rect">
              <a:avLst/>
            </a:prstGeom>
          </p:spPr>
          <p:txBody>
            <a:bodyPr anchor="ctr" rtlCol="false" tIns="0" lIns="0" bIns="0" rIns="0"/>
            <a:lstStyle/>
            <a:p>
              <a:pPr algn="l">
                <a:lnSpc>
                  <a:spcPts val="3359"/>
                </a:lnSpc>
              </a:pPr>
              <a:r>
                <a:rPr lang="en-US" b="true" sz="2799">
                  <a:solidFill>
                    <a:srgbClr val="031812"/>
                  </a:solidFill>
                  <a:latin typeface="Calibri (MS) Bold"/>
                  <a:ea typeface="Calibri (MS) Bold"/>
                  <a:cs typeface="Calibri (MS) Bold"/>
                  <a:sym typeface="Calibri (MS) Bold"/>
                </a:rPr>
                <a:t>Default (ggplot + geom_point)</a:t>
              </a:r>
            </a:p>
          </p:txBody>
        </p:sp>
      </p:grpSp>
      <p:sp>
        <p:nvSpPr>
          <p:cNvPr name="TextBox 9" id="9"/>
          <p:cNvSpPr txBox="true"/>
          <p:nvPr/>
        </p:nvSpPr>
        <p:spPr>
          <a:xfrm rot="0">
            <a:off x="914400" y="7642860"/>
            <a:ext cx="7680960" cy="952500"/>
          </a:xfrm>
          <a:prstGeom prst="rect">
            <a:avLst/>
          </a:prstGeom>
        </p:spPr>
        <p:txBody>
          <a:bodyPr anchor="t" rtlCol="false" tIns="0" lIns="0" bIns="0" rIns="0">
            <a:spAutoFit/>
          </a:bodyPr>
          <a:lstStyle/>
          <a:p>
            <a:pPr algn="l">
              <a:lnSpc>
                <a:spcPts val="2879"/>
              </a:lnSpc>
            </a:pPr>
            <a:r>
              <a:rPr lang="en-US" sz="2400">
                <a:solidFill>
                  <a:srgbClr val="1B2A33"/>
                </a:solidFill>
                <a:latin typeface="Calibri (MS)"/>
                <a:ea typeface="Calibri (MS)"/>
                <a:cs typeface="Calibri (MS)"/>
                <a:sym typeface="Calibri (MS)"/>
              </a:rPr>
              <a:t>Dots stack on 0 and 1. No sexes, no trend, no weights.</a:t>
            </a:r>
          </a:p>
        </p:txBody>
      </p:sp>
      <p:grpSp>
        <p:nvGrpSpPr>
          <p:cNvPr name="Group 10" id="10"/>
          <p:cNvGrpSpPr/>
          <p:nvPr/>
        </p:nvGrpSpPr>
        <p:grpSpPr>
          <a:xfrm rot="0">
            <a:off x="9692640" y="2194560"/>
            <a:ext cx="7680960" cy="548640"/>
            <a:chOff x="0" y="0"/>
            <a:chExt cx="10241280" cy="731520"/>
          </a:xfrm>
        </p:grpSpPr>
        <p:sp>
          <p:nvSpPr>
            <p:cNvPr name="Freeform 11" id="11"/>
            <p:cNvSpPr/>
            <p:nvPr/>
          </p:nvSpPr>
          <p:spPr>
            <a:xfrm flipH="false" flipV="false" rot="0">
              <a:off x="0" y="0"/>
              <a:ext cx="10241280" cy="731520"/>
            </a:xfrm>
            <a:custGeom>
              <a:avLst/>
              <a:gdLst/>
              <a:ahLst/>
              <a:cxnLst/>
              <a:rect r="r" b="b" t="t" l="l"/>
              <a:pathLst>
                <a:path h="731520" w="10241280">
                  <a:moveTo>
                    <a:pt x="0" y="0"/>
                  </a:moveTo>
                  <a:lnTo>
                    <a:pt x="10241280" y="0"/>
                  </a:lnTo>
                  <a:lnTo>
                    <a:pt x="10241280" y="731520"/>
                  </a:lnTo>
                  <a:lnTo>
                    <a:pt x="0" y="731520"/>
                  </a:lnTo>
                  <a:close/>
                </a:path>
              </a:pathLst>
            </a:custGeom>
            <a:blipFill>
              <a:blip r:embed="rId3">
                <a:alphaModFix amt="0"/>
              </a:blip>
              <a:stretch>
                <a:fillRect l="0" t="-222790" r="0" b="-222790"/>
              </a:stretch>
            </a:blipFill>
          </p:spPr>
        </p:sp>
        <p:sp>
          <p:nvSpPr>
            <p:cNvPr name="TextBox 12" id="12"/>
            <p:cNvSpPr txBox="true"/>
            <p:nvPr/>
          </p:nvSpPr>
          <p:spPr>
            <a:xfrm>
              <a:off x="0" y="-66675"/>
              <a:ext cx="10241280" cy="798195"/>
            </a:xfrm>
            <a:prstGeom prst="rect">
              <a:avLst/>
            </a:prstGeom>
          </p:spPr>
          <p:txBody>
            <a:bodyPr anchor="ctr" rtlCol="false" tIns="0" lIns="0" bIns="0" rIns="0"/>
            <a:lstStyle/>
            <a:p>
              <a:pPr algn="l">
                <a:lnSpc>
                  <a:spcPts val="3359"/>
                </a:lnSpc>
              </a:pPr>
              <a:r>
                <a:rPr lang="en-US" b="true" sz="2799">
                  <a:solidFill>
                    <a:srgbClr val="031812"/>
                  </a:solidFill>
                  <a:latin typeface="Calibri (MS) Bold"/>
                  <a:ea typeface="Calibri (MS) Bold"/>
                  <a:cs typeface="Calibri (MS) Bold"/>
                  <a:sym typeface="Calibri (MS) Bold"/>
                </a:rPr>
                <a:t>Redesign</a:t>
              </a:r>
            </a:p>
          </p:txBody>
        </p:sp>
      </p:grpSp>
      <p:sp>
        <p:nvSpPr>
          <p:cNvPr name="TextBox 13" id="13"/>
          <p:cNvSpPr txBox="true"/>
          <p:nvPr/>
        </p:nvSpPr>
        <p:spPr>
          <a:xfrm rot="0">
            <a:off x="9692640" y="7642860"/>
            <a:ext cx="7680960" cy="952500"/>
          </a:xfrm>
          <a:prstGeom prst="rect">
            <a:avLst/>
          </a:prstGeom>
        </p:spPr>
        <p:txBody>
          <a:bodyPr anchor="t" rtlCol="false" tIns="0" lIns="0" bIns="0" rIns="0">
            <a:spAutoFit/>
          </a:bodyPr>
          <a:lstStyle/>
          <a:p>
            <a:pPr algn="l">
              <a:lnSpc>
                <a:spcPts val="2879"/>
              </a:lnSpc>
            </a:pPr>
            <a:r>
              <a:rPr lang="en-US" sz="2400">
                <a:solidFill>
                  <a:srgbClr val="1B2A33"/>
                </a:solidFill>
                <a:latin typeface="Calibri (MS)"/>
                <a:ea typeface="Calibri (MS)"/>
                <a:cs typeface="Calibri (MS)"/>
                <a:sym typeface="Calibri (MS)"/>
              </a:rPr>
              <a:t>Weighted literacy rate by age band, women and men, labelled directly.</a:t>
            </a:r>
          </a:p>
        </p:txBody>
      </p:sp>
      <p:grpSp>
        <p:nvGrpSpPr>
          <p:cNvPr name="Group 14" id="14"/>
          <p:cNvGrpSpPr/>
          <p:nvPr/>
        </p:nvGrpSpPr>
        <p:grpSpPr>
          <a:xfrm rot="0">
            <a:off x="914400" y="8686800"/>
            <a:ext cx="16459200" cy="640080"/>
            <a:chOff x="0" y="0"/>
            <a:chExt cx="21945600" cy="853440"/>
          </a:xfrm>
        </p:grpSpPr>
        <p:sp>
          <p:nvSpPr>
            <p:cNvPr name="Freeform 15" id="15"/>
            <p:cNvSpPr/>
            <p:nvPr/>
          </p:nvSpPr>
          <p:spPr>
            <a:xfrm flipH="false" flipV="false" rot="0">
              <a:off x="0" y="0"/>
              <a:ext cx="21945600" cy="853440"/>
            </a:xfrm>
            <a:custGeom>
              <a:avLst/>
              <a:gdLst/>
              <a:ahLst/>
              <a:cxnLst/>
              <a:rect r="r" b="b" t="t" l="l"/>
              <a:pathLst>
                <a:path h="853440" w="21945600">
                  <a:moveTo>
                    <a:pt x="0" y="0"/>
                  </a:moveTo>
                  <a:lnTo>
                    <a:pt x="21945600" y="0"/>
                  </a:lnTo>
                  <a:lnTo>
                    <a:pt x="21945600" y="853440"/>
                  </a:lnTo>
                  <a:lnTo>
                    <a:pt x="0" y="853440"/>
                  </a:lnTo>
                  <a:close/>
                </a:path>
              </a:pathLst>
            </a:custGeom>
            <a:blipFill>
              <a:blip r:embed="rId3">
                <a:alphaModFix amt="0"/>
              </a:blip>
              <a:stretch>
                <a:fillRect l="0" t="-451043" r="0" b="-451043"/>
              </a:stretch>
            </a:blipFill>
          </p:spPr>
        </p:sp>
        <p:sp>
          <p:nvSpPr>
            <p:cNvPr name="TextBox 16" id="16"/>
            <p:cNvSpPr txBox="true"/>
            <p:nvPr/>
          </p:nvSpPr>
          <p:spPr>
            <a:xfrm>
              <a:off x="0" y="-66675"/>
              <a:ext cx="21945600" cy="920115"/>
            </a:xfrm>
            <a:prstGeom prst="rect">
              <a:avLst/>
            </a:prstGeom>
          </p:spPr>
          <p:txBody>
            <a:bodyPr anchor="ctr" rtlCol="false" tIns="0" lIns="0" bIns="0" rIns="0"/>
            <a:lstStyle/>
            <a:p>
              <a:pPr algn="l">
                <a:lnSpc>
                  <a:spcPts val="3359"/>
                </a:lnSpc>
              </a:pPr>
              <a:r>
                <a:rPr lang="en-US" b="true" sz="2799">
                  <a:solidFill>
                    <a:srgbClr val="031812"/>
                  </a:solidFill>
                  <a:latin typeface="Calibri (MS) Bold"/>
                  <a:ea typeface="Calibri (MS) Bold"/>
                  <a:cs typeface="Calibri (MS) Bold"/>
                  <a:sym typeface="Calibri (MS) Bold"/>
                </a:rPr>
                <a:t>Three changes: conditional means, position on a common scale, data–ink (direct labels, quiet grid)</a:t>
              </a:r>
            </a:p>
          </p:txBody>
        </p:sp>
      </p:grpSp>
      <p:sp>
        <p:nvSpPr>
          <p:cNvPr name="TextBox 17" id="17"/>
          <p:cNvSpPr txBox="true"/>
          <p:nvPr/>
        </p:nvSpPr>
        <p:spPr>
          <a:xfrm rot="0">
            <a:off x="16550640" y="9517380"/>
            <a:ext cx="731520" cy="495300"/>
          </a:xfrm>
          <a:prstGeom prst="rect">
            <a:avLst/>
          </a:prstGeom>
        </p:spPr>
        <p:txBody>
          <a:bodyPr anchor="t" rtlCol="false" tIns="0" lIns="0" bIns="0" rIns="0">
            <a:spAutoFit/>
          </a:bodyPr>
          <a:lstStyle/>
          <a:p>
            <a:pPr algn="l">
              <a:lnSpc>
                <a:spcPts val="2400"/>
              </a:lnSpc>
            </a:pPr>
            <a:r>
              <a:rPr lang="en-US" sz="2000">
                <a:solidFill>
                  <a:srgbClr val="031812"/>
                </a:solidFill>
                <a:latin typeface="Calibri (MS)"/>
                <a:ea typeface="Calibri (MS)"/>
                <a:cs typeface="Calibri (MS)"/>
                <a:sym typeface="Calibri (MS)"/>
              </a:rPr>
              <a:t>2</a:t>
            </a:r>
          </a:p>
        </p:txBody>
      </p:sp>
      <p:grpSp>
        <p:nvGrpSpPr>
          <p:cNvPr name="Group 18" id="18"/>
          <p:cNvGrpSpPr/>
          <p:nvPr/>
        </p:nvGrpSpPr>
        <p:grpSpPr>
          <a:xfrm rot="0">
            <a:off x="1055075" y="2743200"/>
            <a:ext cx="7019782" cy="5014122"/>
            <a:chOff x="0" y="0"/>
            <a:chExt cx="9359710" cy="6685496"/>
          </a:xfrm>
        </p:grpSpPr>
        <p:sp>
          <p:nvSpPr>
            <p:cNvPr name="Freeform 19" id="19"/>
            <p:cNvSpPr/>
            <p:nvPr/>
          </p:nvSpPr>
          <p:spPr>
            <a:xfrm flipH="false" flipV="false" rot="0">
              <a:off x="0" y="0"/>
              <a:ext cx="9359646" cy="6685534"/>
            </a:xfrm>
            <a:custGeom>
              <a:avLst/>
              <a:gdLst/>
              <a:ahLst/>
              <a:cxnLst/>
              <a:rect r="r" b="b" t="t" l="l"/>
              <a:pathLst>
                <a:path h="6685534" w="9359646">
                  <a:moveTo>
                    <a:pt x="0" y="0"/>
                  </a:moveTo>
                  <a:lnTo>
                    <a:pt x="9359646" y="0"/>
                  </a:lnTo>
                  <a:lnTo>
                    <a:pt x="9359646" y="6685534"/>
                  </a:lnTo>
                  <a:lnTo>
                    <a:pt x="0" y="6685534"/>
                  </a:lnTo>
                  <a:lnTo>
                    <a:pt x="0" y="0"/>
                  </a:lnTo>
                  <a:close/>
                </a:path>
              </a:pathLst>
            </a:custGeom>
            <a:blipFill>
              <a:blip r:embed="rId4"/>
              <a:stretch>
                <a:fillRect l="0" t="0" r="0" b="0"/>
              </a:stretch>
            </a:blipFill>
          </p:spPr>
        </p:sp>
      </p:grpSp>
      <p:grpSp>
        <p:nvGrpSpPr>
          <p:cNvPr name="Group 20" id="20"/>
          <p:cNvGrpSpPr/>
          <p:nvPr/>
        </p:nvGrpSpPr>
        <p:grpSpPr>
          <a:xfrm rot="0">
            <a:off x="10009165" y="2769137"/>
            <a:ext cx="6907235" cy="4748727"/>
            <a:chOff x="0" y="0"/>
            <a:chExt cx="9209646" cy="6331636"/>
          </a:xfrm>
        </p:grpSpPr>
        <p:sp>
          <p:nvSpPr>
            <p:cNvPr name="Freeform 21" id="21"/>
            <p:cNvSpPr/>
            <p:nvPr/>
          </p:nvSpPr>
          <p:spPr>
            <a:xfrm flipH="false" flipV="false" rot="0">
              <a:off x="0" y="0"/>
              <a:ext cx="9209659" cy="6331585"/>
            </a:xfrm>
            <a:custGeom>
              <a:avLst/>
              <a:gdLst/>
              <a:ahLst/>
              <a:cxnLst/>
              <a:rect r="r" b="b" t="t" l="l"/>
              <a:pathLst>
                <a:path h="6331585" w="9209659">
                  <a:moveTo>
                    <a:pt x="0" y="0"/>
                  </a:moveTo>
                  <a:lnTo>
                    <a:pt x="9209659" y="0"/>
                  </a:lnTo>
                  <a:lnTo>
                    <a:pt x="9209659" y="6331585"/>
                  </a:lnTo>
                  <a:lnTo>
                    <a:pt x="0" y="6331585"/>
                  </a:lnTo>
                  <a:lnTo>
                    <a:pt x="0" y="0"/>
                  </a:lnTo>
                  <a:close/>
                </a:path>
              </a:pathLst>
            </a:custGeom>
            <a:blipFill>
              <a:blip r:embed="rId5"/>
              <a:stretch>
                <a:fillRect l="0" t="0" r="0" b="0"/>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4400" y="9509760"/>
            <a:ext cx="10972800" cy="548640"/>
            <a:chOff x="0" y="0"/>
            <a:chExt cx="14630400" cy="731520"/>
          </a:xfrm>
        </p:grpSpPr>
        <p:sp>
          <p:nvSpPr>
            <p:cNvPr name="Freeform 3" id="3"/>
            <p:cNvSpPr/>
            <p:nvPr/>
          </p:nvSpPr>
          <p:spPr>
            <a:xfrm flipH="false" flipV="false" rot="0">
              <a:off x="0" y="0"/>
              <a:ext cx="14630400" cy="731520"/>
            </a:xfrm>
            <a:custGeom>
              <a:avLst/>
              <a:gdLst/>
              <a:ahLst/>
              <a:cxnLst/>
              <a:rect r="r" b="b" t="t" l="l"/>
              <a:pathLst>
                <a:path h="731520" w="14630400">
                  <a:moveTo>
                    <a:pt x="0" y="0"/>
                  </a:moveTo>
                  <a:lnTo>
                    <a:pt x="14630400" y="0"/>
                  </a:lnTo>
                  <a:lnTo>
                    <a:pt x="14630400" y="731520"/>
                  </a:lnTo>
                  <a:lnTo>
                    <a:pt x="0" y="731520"/>
                  </a:lnTo>
                  <a:close/>
                </a:path>
              </a:pathLst>
            </a:custGeom>
            <a:blipFill>
              <a:blip r:embed="rId3">
                <a:alphaModFix amt="0"/>
              </a:blip>
              <a:stretch>
                <a:fillRect l="0" t="-339700" r="0" b="-339700"/>
              </a:stretch>
            </a:blipFill>
          </p:spPr>
        </p:sp>
        <p:sp>
          <p:nvSpPr>
            <p:cNvPr name="TextBox 4" id="4"/>
            <p:cNvSpPr txBox="true"/>
            <p:nvPr/>
          </p:nvSpPr>
          <p:spPr>
            <a:xfrm>
              <a:off x="0" y="-38100"/>
              <a:ext cx="14630400" cy="769620"/>
            </a:xfrm>
            <a:prstGeom prst="rect">
              <a:avLst/>
            </a:prstGeom>
          </p:spPr>
          <p:txBody>
            <a:bodyPr anchor="ctr" rtlCol="false" tIns="0" lIns="0" bIns="0" rIns="0"/>
            <a:lstStyle/>
            <a:p>
              <a:pPr algn="l">
                <a:lnSpc>
                  <a:spcPts val="2400"/>
                </a:lnSpc>
              </a:pPr>
              <a:r>
                <a:rPr lang="en-US" sz="2000">
                  <a:solidFill>
                    <a:srgbClr val="5B6B76"/>
                  </a:solidFill>
                  <a:latin typeface="Calibri (MS)"/>
                  <a:ea typeface="Calibri (MS)"/>
                  <a:cs typeface="Calibri (MS)"/>
                  <a:sym typeface="Calibri (MS)"/>
                </a:rPr>
                <a:t>ECO346 · Assignment 1 · FA24-BEDS-084</a:t>
              </a:r>
            </a:p>
          </p:txBody>
        </p:sp>
      </p:grpSp>
      <p:sp>
        <p:nvSpPr>
          <p:cNvPr name="TextBox 5" id="5"/>
          <p:cNvSpPr txBox="true"/>
          <p:nvPr/>
        </p:nvSpPr>
        <p:spPr>
          <a:xfrm rot="0">
            <a:off x="914400" y="539115"/>
            <a:ext cx="16459200" cy="1746885"/>
          </a:xfrm>
          <a:prstGeom prst="rect">
            <a:avLst/>
          </a:prstGeom>
        </p:spPr>
        <p:txBody>
          <a:bodyPr anchor="t" rtlCol="false" tIns="0" lIns="0" bIns="0" rIns="0">
            <a:spAutoFit/>
          </a:bodyPr>
          <a:lstStyle/>
          <a:p>
            <a:pPr algn="l">
              <a:lnSpc>
                <a:spcPts val="6720"/>
              </a:lnSpc>
            </a:pPr>
            <a:r>
              <a:rPr lang="en-US" b="true" sz="5600">
                <a:solidFill>
                  <a:srgbClr val="031812"/>
                </a:solidFill>
                <a:latin typeface="Cambria Bold"/>
                <a:ea typeface="Cambria Bold"/>
                <a:cs typeface="Cambria Bold"/>
                <a:sym typeface="Cambria Bold"/>
              </a:rPr>
              <a:t>Rural KP women fall far behind men, and the gap widens with age</a:t>
            </a:r>
          </a:p>
        </p:txBody>
      </p:sp>
      <p:grpSp>
        <p:nvGrpSpPr>
          <p:cNvPr name="Group 6" id="6"/>
          <p:cNvGrpSpPr/>
          <p:nvPr/>
        </p:nvGrpSpPr>
        <p:grpSpPr>
          <a:xfrm rot="0">
            <a:off x="914400" y="2743200"/>
            <a:ext cx="3108960" cy="1280160"/>
            <a:chOff x="0" y="0"/>
            <a:chExt cx="4145280" cy="1706880"/>
          </a:xfrm>
        </p:grpSpPr>
        <p:sp>
          <p:nvSpPr>
            <p:cNvPr name="Freeform 7" id="7"/>
            <p:cNvSpPr/>
            <p:nvPr/>
          </p:nvSpPr>
          <p:spPr>
            <a:xfrm flipH="false" flipV="false" rot="0">
              <a:off x="0" y="0"/>
              <a:ext cx="4145280" cy="1706880"/>
            </a:xfrm>
            <a:custGeom>
              <a:avLst/>
              <a:gdLst/>
              <a:ahLst/>
              <a:cxnLst/>
              <a:rect r="r" b="b" t="t" l="l"/>
              <a:pathLst>
                <a:path h="1706880" w="4145280">
                  <a:moveTo>
                    <a:pt x="0" y="0"/>
                  </a:moveTo>
                  <a:lnTo>
                    <a:pt x="4145280" y="0"/>
                  </a:lnTo>
                  <a:lnTo>
                    <a:pt x="4145280" y="1706880"/>
                  </a:lnTo>
                  <a:lnTo>
                    <a:pt x="0" y="1706880"/>
                  </a:lnTo>
                  <a:close/>
                </a:path>
              </a:pathLst>
            </a:custGeom>
            <a:blipFill>
              <a:blip r:embed="rId3">
                <a:alphaModFix amt="0"/>
              </a:blip>
              <a:stretch>
                <a:fillRect l="-2830" t="0" r="-2830" b="0"/>
              </a:stretch>
            </a:blipFill>
          </p:spPr>
        </p:sp>
        <p:sp>
          <p:nvSpPr>
            <p:cNvPr name="TextBox 8" id="8"/>
            <p:cNvSpPr txBox="true"/>
            <p:nvPr/>
          </p:nvSpPr>
          <p:spPr>
            <a:xfrm>
              <a:off x="0" y="-57150"/>
              <a:ext cx="4145280" cy="1764030"/>
            </a:xfrm>
            <a:prstGeom prst="rect">
              <a:avLst/>
            </a:prstGeom>
          </p:spPr>
          <p:txBody>
            <a:bodyPr anchor="ctr" rtlCol="false" tIns="0" lIns="0" bIns="0" rIns="0"/>
            <a:lstStyle/>
            <a:p>
              <a:pPr algn="l">
                <a:lnSpc>
                  <a:spcPts val="3840"/>
                </a:lnSpc>
              </a:pPr>
              <a:r>
                <a:rPr lang="en-US" b="true" sz="3200">
                  <a:solidFill>
                    <a:srgbClr val="031812"/>
                  </a:solidFill>
                  <a:latin typeface="Calibri (MS) Bold"/>
                  <a:ea typeface="Calibri (MS) Bold"/>
                  <a:cs typeface="Calibri (MS) Bold"/>
                  <a:sym typeface="Calibri (MS) Bold"/>
                </a:rPr>
                <a:t>Ages 15–19</a:t>
              </a:r>
            </a:p>
          </p:txBody>
        </p:sp>
      </p:grpSp>
      <p:sp>
        <p:nvSpPr>
          <p:cNvPr name="TextBox 9" id="9"/>
          <p:cNvSpPr txBox="true"/>
          <p:nvPr/>
        </p:nvSpPr>
        <p:spPr>
          <a:xfrm rot="0">
            <a:off x="4206240" y="2581275"/>
            <a:ext cx="3474720" cy="2356485"/>
          </a:xfrm>
          <a:prstGeom prst="rect">
            <a:avLst/>
          </a:prstGeom>
        </p:spPr>
        <p:txBody>
          <a:bodyPr anchor="t" rtlCol="false" tIns="0" lIns="0" bIns="0" rIns="0">
            <a:spAutoFit/>
          </a:bodyPr>
          <a:lstStyle/>
          <a:p>
            <a:pPr algn="l">
              <a:lnSpc>
                <a:spcPts val="9600"/>
              </a:lnSpc>
            </a:pPr>
            <a:r>
              <a:rPr lang="en-US" b="true" sz="8000">
                <a:solidFill>
                  <a:srgbClr val="031812"/>
                </a:solidFill>
                <a:latin typeface="Calibri (MS) Bold"/>
                <a:ea typeface="Calibri (MS) Bold"/>
                <a:cs typeface="Calibri (MS) Bold"/>
                <a:sym typeface="Calibri (MS) Bold"/>
              </a:rPr>
              <a:t>85.1%</a:t>
            </a:r>
          </a:p>
          <a:p>
            <a:pPr algn="l">
              <a:lnSpc>
                <a:spcPts val="2879"/>
              </a:lnSpc>
            </a:pPr>
            <a:r>
              <a:rPr lang="en-US" sz="2400">
                <a:solidFill>
                  <a:srgbClr val="031812"/>
                </a:solidFill>
                <a:latin typeface="Calibri (MS)"/>
                <a:ea typeface="Calibri (MS)"/>
                <a:cs typeface="Calibri (MS)"/>
                <a:sym typeface="Calibri (MS)"/>
              </a:rPr>
              <a:t>men</a:t>
            </a:r>
          </a:p>
        </p:txBody>
      </p:sp>
      <p:sp>
        <p:nvSpPr>
          <p:cNvPr name="TextBox 10" id="10"/>
          <p:cNvSpPr txBox="true"/>
          <p:nvPr/>
        </p:nvSpPr>
        <p:spPr>
          <a:xfrm rot="0">
            <a:off x="7863840" y="2581275"/>
            <a:ext cx="3474720" cy="2356485"/>
          </a:xfrm>
          <a:prstGeom prst="rect">
            <a:avLst/>
          </a:prstGeom>
        </p:spPr>
        <p:txBody>
          <a:bodyPr anchor="t" rtlCol="false" tIns="0" lIns="0" bIns="0" rIns="0">
            <a:spAutoFit/>
          </a:bodyPr>
          <a:lstStyle/>
          <a:p>
            <a:pPr algn="l">
              <a:lnSpc>
                <a:spcPts val="9600"/>
              </a:lnSpc>
            </a:pPr>
            <a:r>
              <a:rPr lang="en-US" sz="8000" b="true">
                <a:solidFill>
                  <a:srgbClr val="C0392B"/>
                </a:solidFill>
                <a:latin typeface="Calibri (MS) Bold"/>
                <a:ea typeface="Calibri (MS) Bold"/>
                <a:cs typeface="Calibri (MS) Bold"/>
                <a:sym typeface="Calibri (MS) Bold"/>
              </a:rPr>
              <a:t>52.6%</a:t>
            </a:r>
          </a:p>
          <a:p>
            <a:pPr algn="l">
              <a:lnSpc>
                <a:spcPts val="2879"/>
              </a:lnSpc>
            </a:pPr>
            <a:r>
              <a:rPr lang="en-US" sz="2400">
                <a:solidFill>
                  <a:srgbClr val="5B6B76"/>
                </a:solidFill>
                <a:latin typeface="Calibri (MS)"/>
                <a:ea typeface="Calibri (MS)"/>
                <a:cs typeface="Calibri (MS)"/>
                <a:sym typeface="Calibri (MS)"/>
              </a:rPr>
              <a:t>women</a:t>
            </a:r>
          </a:p>
        </p:txBody>
      </p:sp>
      <p:grpSp>
        <p:nvGrpSpPr>
          <p:cNvPr name="Group 11" id="11"/>
          <p:cNvGrpSpPr/>
          <p:nvPr/>
        </p:nvGrpSpPr>
        <p:grpSpPr>
          <a:xfrm rot="0">
            <a:off x="914400" y="5486400"/>
            <a:ext cx="3108960" cy="1280160"/>
            <a:chOff x="0" y="0"/>
            <a:chExt cx="4145280" cy="1706880"/>
          </a:xfrm>
        </p:grpSpPr>
        <p:sp>
          <p:nvSpPr>
            <p:cNvPr name="Freeform 12" id="12"/>
            <p:cNvSpPr/>
            <p:nvPr/>
          </p:nvSpPr>
          <p:spPr>
            <a:xfrm flipH="false" flipV="false" rot="0">
              <a:off x="0" y="0"/>
              <a:ext cx="4145280" cy="1706880"/>
            </a:xfrm>
            <a:custGeom>
              <a:avLst/>
              <a:gdLst/>
              <a:ahLst/>
              <a:cxnLst/>
              <a:rect r="r" b="b" t="t" l="l"/>
              <a:pathLst>
                <a:path h="1706880" w="4145280">
                  <a:moveTo>
                    <a:pt x="0" y="0"/>
                  </a:moveTo>
                  <a:lnTo>
                    <a:pt x="4145280" y="0"/>
                  </a:lnTo>
                  <a:lnTo>
                    <a:pt x="4145280" y="1706880"/>
                  </a:lnTo>
                  <a:lnTo>
                    <a:pt x="0" y="1706880"/>
                  </a:lnTo>
                  <a:close/>
                </a:path>
              </a:pathLst>
            </a:custGeom>
            <a:blipFill>
              <a:blip r:embed="rId3">
                <a:alphaModFix amt="0"/>
              </a:blip>
              <a:stretch>
                <a:fillRect l="-2830" t="0" r="-2830" b="0"/>
              </a:stretch>
            </a:blipFill>
          </p:spPr>
        </p:sp>
        <p:sp>
          <p:nvSpPr>
            <p:cNvPr name="TextBox 13" id="13"/>
            <p:cNvSpPr txBox="true"/>
            <p:nvPr/>
          </p:nvSpPr>
          <p:spPr>
            <a:xfrm>
              <a:off x="0" y="-57150"/>
              <a:ext cx="4145280" cy="1764030"/>
            </a:xfrm>
            <a:prstGeom prst="rect">
              <a:avLst/>
            </a:prstGeom>
          </p:spPr>
          <p:txBody>
            <a:bodyPr anchor="ctr" rtlCol="false" tIns="0" lIns="0" bIns="0" rIns="0"/>
            <a:lstStyle/>
            <a:p>
              <a:pPr algn="l">
                <a:lnSpc>
                  <a:spcPts val="3840"/>
                </a:lnSpc>
              </a:pPr>
              <a:r>
                <a:rPr lang="en-US" b="true" sz="3200">
                  <a:solidFill>
                    <a:srgbClr val="031812"/>
                  </a:solidFill>
                  <a:latin typeface="Calibri (MS) Bold"/>
                  <a:ea typeface="Calibri (MS) Bold"/>
                  <a:cs typeface="Calibri (MS) Bold"/>
                  <a:sym typeface="Calibri (MS) Bold"/>
                </a:rPr>
                <a:t>Ages 55–59</a:t>
              </a:r>
            </a:p>
          </p:txBody>
        </p:sp>
      </p:grpSp>
      <p:sp>
        <p:nvSpPr>
          <p:cNvPr name="TextBox 14" id="14"/>
          <p:cNvSpPr txBox="true"/>
          <p:nvPr/>
        </p:nvSpPr>
        <p:spPr>
          <a:xfrm rot="0">
            <a:off x="4206240" y="5324475"/>
            <a:ext cx="3474720" cy="2356485"/>
          </a:xfrm>
          <a:prstGeom prst="rect">
            <a:avLst/>
          </a:prstGeom>
        </p:spPr>
        <p:txBody>
          <a:bodyPr anchor="t" rtlCol="false" tIns="0" lIns="0" bIns="0" rIns="0">
            <a:spAutoFit/>
          </a:bodyPr>
          <a:lstStyle/>
          <a:p>
            <a:pPr algn="l">
              <a:lnSpc>
                <a:spcPts val="9600"/>
              </a:lnSpc>
            </a:pPr>
            <a:r>
              <a:rPr lang="en-US" b="true" sz="8000">
                <a:solidFill>
                  <a:srgbClr val="031812"/>
                </a:solidFill>
                <a:latin typeface="Calibri (MS) Bold"/>
                <a:ea typeface="Calibri (MS) Bold"/>
                <a:cs typeface="Calibri (MS) Bold"/>
                <a:sym typeface="Calibri (MS) Bold"/>
              </a:rPr>
              <a:t>43.0%</a:t>
            </a:r>
          </a:p>
          <a:p>
            <a:pPr algn="l">
              <a:lnSpc>
                <a:spcPts val="2879"/>
              </a:lnSpc>
            </a:pPr>
            <a:r>
              <a:rPr lang="en-US" sz="2400">
                <a:solidFill>
                  <a:srgbClr val="031812"/>
                </a:solidFill>
                <a:latin typeface="Calibri (MS)"/>
                <a:ea typeface="Calibri (MS)"/>
                <a:cs typeface="Calibri (MS)"/>
                <a:sym typeface="Calibri (MS)"/>
              </a:rPr>
              <a:t>men</a:t>
            </a:r>
          </a:p>
        </p:txBody>
      </p:sp>
      <p:sp>
        <p:nvSpPr>
          <p:cNvPr name="TextBox 15" id="15"/>
          <p:cNvSpPr txBox="true"/>
          <p:nvPr/>
        </p:nvSpPr>
        <p:spPr>
          <a:xfrm rot="0">
            <a:off x="7863840" y="5324475"/>
            <a:ext cx="3474720" cy="2356485"/>
          </a:xfrm>
          <a:prstGeom prst="rect">
            <a:avLst/>
          </a:prstGeom>
        </p:spPr>
        <p:txBody>
          <a:bodyPr anchor="t" rtlCol="false" tIns="0" lIns="0" bIns="0" rIns="0">
            <a:spAutoFit/>
          </a:bodyPr>
          <a:lstStyle/>
          <a:p>
            <a:pPr algn="l">
              <a:lnSpc>
                <a:spcPts val="9600"/>
              </a:lnSpc>
            </a:pPr>
            <a:r>
              <a:rPr lang="en-US" sz="8000" b="true">
                <a:solidFill>
                  <a:srgbClr val="C0392B"/>
                </a:solidFill>
                <a:latin typeface="Calibri (MS) Bold"/>
                <a:ea typeface="Calibri (MS) Bold"/>
                <a:cs typeface="Calibri (MS) Bold"/>
                <a:sym typeface="Calibri (MS) Bold"/>
              </a:rPr>
              <a:t>2.9%</a:t>
            </a:r>
          </a:p>
          <a:p>
            <a:pPr algn="l">
              <a:lnSpc>
                <a:spcPts val="2879"/>
              </a:lnSpc>
            </a:pPr>
            <a:r>
              <a:rPr lang="en-US" sz="2400">
                <a:solidFill>
                  <a:srgbClr val="5B6B76"/>
                </a:solidFill>
                <a:latin typeface="Calibri (MS)"/>
                <a:ea typeface="Calibri (MS)"/>
                <a:cs typeface="Calibri (MS)"/>
                <a:sym typeface="Calibri (MS)"/>
              </a:rPr>
              <a:t>women</a:t>
            </a:r>
          </a:p>
        </p:txBody>
      </p:sp>
      <p:grpSp>
        <p:nvGrpSpPr>
          <p:cNvPr name="Group 16" id="16"/>
          <p:cNvGrpSpPr/>
          <p:nvPr/>
        </p:nvGrpSpPr>
        <p:grpSpPr>
          <a:xfrm rot="0">
            <a:off x="12070080" y="2743200"/>
            <a:ext cx="5303520" cy="4937760"/>
            <a:chOff x="0" y="0"/>
            <a:chExt cx="7071360" cy="6583680"/>
          </a:xfrm>
        </p:grpSpPr>
        <p:sp>
          <p:nvSpPr>
            <p:cNvPr name="Freeform 17" id="17"/>
            <p:cNvSpPr/>
            <p:nvPr/>
          </p:nvSpPr>
          <p:spPr>
            <a:xfrm flipH="false" flipV="false" rot="0">
              <a:off x="0" y="0"/>
              <a:ext cx="7071360" cy="6583680"/>
            </a:xfrm>
            <a:custGeom>
              <a:avLst/>
              <a:gdLst/>
              <a:ahLst/>
              <a:cxnLst/>
              <a:rect r="r" b="b" t="t" l="l"/>
              <a:pathLst>
                <a:path h="6583680" w="7071360">
                  <a:moveTo>
                    <a:pt x="0" y="195072"/>
                  </a:moveTo>
                  <a:cubicBezTo>
                    <a:pt x="0" y="87376"/>
                    <a:pt x="87376" y="0"/>
                    <a:pt x="195072" y="0"/>
                  </a:cubicBezTo>
                  <a:lnTo>
                    <a:pt x="6876288" y="0"/>
                  </a:lnTo>
                  <a:cubicBezTo>
                    <a:pt x="6983984" y="0"/>
                    <a:pt x="7071360" y="87376"/>
                    <a:pt x="7071360" y="195072"/>
                  </a:cubicBezTo>
                  <a:lnTo>
                    <a:pt x="7071360" y="6388608"/>
                  </a:lnTo>
                  <a:cubicBezTo>
                    <a:pt x="7071360" y="6496304"/>
                    <a:pt x="6983984" y="6583680"/>
                    <a:pt x="6876288" y="6583680"/>
                  </a:cubicBezTo>
                  <a:lnTo>
                    <a:pt x="195072" y="6583680"/>
                  </a:lnTo>
                  <a:cubicBezTo>
                    <a:pt x="87376" y="6583680"/>
                    <a:pt x="0" y="6496304"/>
                    <a:pt x="0" y="6388608"/>
                  </a:cubicBezTo>
                  <a:close/>
                </a:path>
              </a:pathLst>
            </a:custGeom>
            <a:solidFill>
              <a:srgbClr val="EAF1F5"/>
            </a:solidFill>
          </p:spPr>
        </p:sp>
      </p:grpSp>
      <p:sp>
        <p:nvSpPr>
          <p:cNvPr name="TextBox 18" id="18"/>
          <p:cNvSpPr txBox="true"/>
          <p:nvPr/>
        </p:nvSpPr>
        <p:spPr>
          <a:xfrm rot="0">
            <a:off x="12435840" y="2979420"/>
            <a:ext cx="4572000" cy="4427220"/>
          </a:xfrm>
          <a:prstGeom prst="rect">
            <a:avLst/>
          </a:prstGeom>
        </p:spPr>
        <p:txBody>
          <a:bodyPr anchor="t" rtlCol="false" tIns="0" lIns="0" bIns="0" rIns="0">
            <a:spAutoFit/>
          </a:bodyPr>
          <a:lstStyle/>
          <a:p>
            <a:pPr algn="l">
              <a:lnSpc>
                <a:spcPts val="2879"/>
              </a:lnSpc>
            </a:pPr>
            <a:r>
              <a:rPr lang="en-US" sz="2400">
                <a:solidFill>
                  <a:srgbClr val="5B6B76"/>
                </a:solidFill>
                <a:latin typeface="Calibri (MS)"/>
                <a:ea typeface="Calibri (MS)"/>
                <a:cs typeface="Calibri (MS)"/>
                <a:sym typeface="Calibri (MS)"/>
              </a:rPr>
              <a:t>Largest gap, ages 45–49</a:t>
            </a:r>
          </a:p>
          <a:p>
            <a:pPr algn="l">
              <a:lnSpc>
                <a:spcPts val="7679"/>
              </a:lnSpc>
            </a:pPr>
            <a:r>
              <a:rPr lang="en-US" sz="6399" b="true">
                <a:solidFill>
                  <a:srgbClr val="16394A"/>
                </a:solidFill>
                <a:latin typeface="Calibri (MS) Bold"/>
                <a:ea typeface="Calibri (MS) Bold"/>
                <a:cs typeface="Calibri (MS) Bold"/>
                <a:sym typeface="Calibri (MS) Bold"/>
              </a:rPr>
              <a:t>46.6 points</a:t>
            </a:r>
          </a:p>
          <a:p>
            <a:pPr algn="l">
              <a:lnSpc>
                <a:spcPts val="2879"/>
              </a:lnSpc>
            </a:pPr>
            <a:r>
              <a:rPr lang="en-US" sz="2400">
                <a:solidFill>
                  <a:srgbClr val="1B2A33"/>
                </a:solidFill>
                <a:latin typeface="Calibri (MS)"/>
                <a:ea typeface="Calibri (MS)"/>
                <a:cs typeface="Calibri (MS)"/>
                <a:sym typeface="Calibri (MS)"/>
              </a:rPr>
              <a:t>Up from 26.9 points at ages 10–14. The 35–49 bands are nearly tied, so it is a plateau.</a:t>
            </a:r>
          </a:p>
        </p:txBody>
      </p:sp>
      <p:grpSp>
        <p:nvGrpSpPr>
          <p:cNvPr name="Group 19" id="19"/>
          <p:cNvGrpSpPr/>
          <p:nvPr/>
        </p:nvGrpSpPr>
        <p:grpSpPr>
          <a:xfrm rot="0">
            <a:off x="914400" y="8138160"/>
            <a:ext cx="16459200" cy="1097280"/>
            <a:chOff x="0" y="0"/>
            <a:chExt cx="21945600" cy="1463040"/>
          </a:xfrm>
        </p:grpSpPr>
        <p:sp>
          <p:nvSpPr>
            <p:cNvPr name="Freeform 20" id="20"/>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sp>
        <p:sp>
          <p:nvSpPr>
            <p:cNvPr name="TextBox 21" id="21"/>
            <p:cNvSpPr txBox="true"/>
            <p:nvPr/>
          </p:nvSpPr>
          <p:spPr>
            <a:xfrm>
              <a:off x="0" y="-66675"/>
              <a:ext cx="21945600" cy="1529715"/>
            </a:xfrm>
            <a:prstGeom prst="rect">
              <a:avLst/>
            </a:prstGeom>
          </p:spPr>
          <p:txBody>
            <a:bodyPr anchor="ctr" rtlCol="false" tIns="0" lIns="0" bIns="0" rIns="0"/>
            <a:lstStyle/>
            <a:p>
              <a:pPr algn="l">
                <a:lnSpc>
                  <a:spcPts val="3359"/>
                </a:lnSpc>
              </a:pPr>
              <a:r>
                <a:rPr lang="en-US" sz="2799" i="true">
                  <a:solidFill>
                    <a:srgbClr val="1B2A33"/>
                  </a:solidFill>
                  <a:latin typeface="Calibri (MS) Italics"/>
                  <a:ea typeface="Calibri (MS) Italics"/>
                  <a:cs typeface="Calibri (MS) Italics"/>
                  <a:sym typeface="Calibri (MS) Italics"/>
                </a:rPr>
                <a:t>What it cannot tell us: whether literacy changes as people age or differs by birth cohort (one cross-section)</a:t>
              </a:r>
            </a:p>
          </p:txBody>
        </p:sp>
      </p:grpSp>
      <p:sp>
        <p:nvSpPr>
          <p:cNvPr name="TextBox 22" id="22"/>
          <p:cNvSpPr txBox="true"/>
          <p:nvPr/>
        </p:nvSpPr>
        <p:spPr>
          <a:xfrm rot="0">
            <a:off x="16550640" y="9517380"/>
            <a:ext cx="731520" cy="495300"/>
          </a:xfrm>
          <a:prstGeom prst="rect">
            <a:avLst/>
          </a:prstGeom>
        </p:spPr>
        <p:txBody>
          <a:bodyPr anchor="t" rtlCol="false" tIns="0" lIns="0" bIns="0" rIns="0">
            <a:spAutoFit/>
          </a:bodyPr>
          <a:lstStyle/>
          <a:p>
            <a:pPr algn="l">
              <a:lnSpc>
                <a:spcPts val="2400"/>
              </a:lnSpc>
            </a:pPr>
            <a:r>
              <a:rPr lang="en-US" sz="2000">
                <a:solidFill>
                  <a:srgbClr val="5B6B76"/>
                </a:solidFill>
                <a:latin typeface="Calibri (MS)"/>
                <a:ea typeface="Calibri (MS)"/>
                <a:cs typeface="Calibri (MS)"/>
                <a:sym typeface="Calibri (MS)"/>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4400" y="9509760"/>
            <a:ext cx="10972800" cy="548640"/>
            <a:chOff x="0" y="0"/>
            <a:chExt cx="14630400" cy="731520"/>
          </a:xfrm>
        </p:grpSpPr>
        <p:sp>
          <p:nvSpPr>
            <p:cNvPr name="Freeform 3" id="3"/>
            <p:cNvSpPr/>
            <p:nvPr/>
          </p:nvSpPr>
          <p:spPr>
            <a:xfrm flipH="false" flipV="false" rot="0">
              <a:off x="0" y="0"/>
              <a:ext cx="14630400" cy="731520"/>
            </a:xfrm>
            <a:custGeom>
              <a:avLst/>
              <a:gdLst/>
              <a:ahLst/>
              <a:cxnLst/>
              <a:rect r="r" b="b" t="t" l="l"/>
              <a:pathLst>
                <a:path h="731520" w="14630400">
                  <a:moveTo>
                    <a:pt x="0" y="0"/>
                  </a:moveTo>
                  <a:lnTo>
                    <a:pt x="14630400" y="0"/>
                  </a:lnTo>
                  <a:lnTo>
                    <a:pt x="14630400" y="731520"/>
                  </a:lnTo>
                  <a:lnTo>
                    <a:pt x="0" y="731520"/>
                  </a:lnTo>
                  <a:close/>
                </a:path>
              </a:pathLst>
            </a:custGeom>
            <a:blipFill>
              <a:blip r:embed="rId3">
                <a:alphaModFix amt="0"/>
              </a:blip>
              <a:stretch>
                <a:fillRect l="0" t="-339700" r="0" b="-339700"/>
              </a:stretch>
            </a:blipFill>
          </p:spPr>
        </p:sp>
        <p:sp>
          <p:nvSpPr>
            <p:cNvPr name="TextBox 4" id="4"/>
            <p:cNvSpPr txBox="true"/>
            <p:nvPr/>
          </p:nvSpPr>
          <p:spPr>
            <a:xfrm>
              <a:off x="0" y="-38100"/>
              <a:ext cx="14630400" cy="769620"/>
            </a:xfrm>
            <a:prstGeom prst="rect">
              <a:avLst/>
            </a:prstGeom>
          </p:spPr>
          <p:txBody>
            <a:bodyPr anchor="ctr" rtlCol="false" tIns="0" lIns="0" bIns="0" rIns="0"/>
            <a:lstStyle/>
            <a:p>
              <a:pPr algn="l">
                <a:lnSpc>
                  <a:spcPts val="2400"/>
                </a:lnSpc>
              </a:pPr>
              <a:r>
                <a:rPr lang="en-US" sz="2000">
                  <a:solidFill>
                    <a:srgbClr val="5B6B76"/>
                  </a:solidFill>
                  <a:latin typeface="Calibri (MS)"/>
                  <a:ea typeface="Calibri (MS)"/>
                  <a:cs typeface="Calibri (MS)"/>
                  <a:sym typeface="Calibri (MS)"/>
                </a:rPr>
                <a:t>ECO346 · Assignment 1 · FA24-BEDS-084</a:t>
              </a:r>
            </a:p>
          </p:txBody>
        </p:sp>
      </p:grpSp>
      <p:sp>
        <p:nvSpPr>
          <p:cNvPr name="TextBox 5" id="5"/>
          <p:cNvSpPr txBox="true"/>
          <p:nvPr/>
        </p:nvSpPr>
        <p:spPr>
          <a:xfrm rot="0">
            <a:off x="914400" y="539115"/>
            <a:ext cx="16459200" cy="1746885"/>
          </a:xfrm>
          <a:prstGeom prst="rect">
            <a:avLst/>
          </a:prstGeom>
        </p:spPr>
        <p:txBody>
          <a:bodyPr anchor="t" rtlCol="false" tIns="0" lIns="0" bIns="0" rIns="0">
            <a:spAutoFit/>
          </a:bodyPr>
          <a:lstStyle/>
          <a:p>
            <a:pPr algn="l">
              <a:lnSpc>
                <a:spcPts val="6720"/>
              </a:lnSpc>
            </a:pPr>
            <a:r>
              <a:rPr lang="en-US" b="true" sz="5600">
                <a:solidFill>
                  <a:srgbClr val="031812"/>
                </a:solidFill>
                <a:latin typeface="Cambria Bold"/>
                <a:ea typeface="Cambria Bold"/>
                <a:cs typeface="Cambria Bold"/>
                <a:sym typeface="Cambria Bold"/>
              </a:rPr>
              <a:t>Spending per student is right-skewed, with a tenfold spread</a:t>
            </a:r>
          </a:p>
        </p:txBody>
      </p:sp>
      <p:grpSp>
        <p:nvGrpSpPr>
          <p:cNvPr name="Group 6" id="6"/>
          <p:cNvGrpSpPr/>
          <p:nvPr/>
        </p:nvGrpSpPr>
        <p:grpSpPr>
          <a:xfrm rot="0">
            <a:off x="10607040" y="2651760"/>
            <a:ext cx="6766560" cy="1737360"/>
            <a:chOff x="0" y="0"/>
            <a:chExt cx="9022080" cy="2316480"/>
          </a:xfrm>
        </p:grpSpPr>
        <p:sp>
          <p:nvSpPr>
            <p:cNvPr name="Freeform 7" id="7"/>
            <p:cNvSpPr/>
            <p:nvPr/>
          </p:nvSpPr>
          <p:spPr>
            <a:xfrm flipH="false" flipV="false" rot="0">
              <a:off x="0" y="0"/>
              <a:ext cx="9022080" cy="2316480"/>
            </a:xfrm>
            <a:custGeom>
              <a:avLst/>
              <a:gdLst/>
              <a:ahLst/>
              <a:cxnLst/>
              <a:rect r="r" b="b" t="t" l="l"/>
              <a:pathLst>
                <a:path h="2316480" w="9022080">
                  <a:moveTo>
                    <a:pt x="0" y="195072"/>
                  </a:moveTo>
                  <a:cubicBezTo>
                    <a:pt x="0" y="87376"/>
                    <a:pt x="87376" y="0"/>
                    <a:pt x="195072" y="0"/>
                  </a:cubicBezTo>
                  <a:lnTo>
                    <a:pt x="8827008" y="0"/>
                  </a:lnTo>
                  <a:cubicBezTo>
                    <a:pt x="8934703" y="0"/>
                    <a:pt x="9022080" y="87376"/>
                    <a:pt x="9022080" y="195072"/>
                  </a:cubicBezTo>
                  <a:lnTo>
                    <a:pt x="9022080" y="2121408"/>
                  </a:lnTo>
                  <a:cubicBezTo>
                    <a:pt x="9022080" y="2229104"/>
                    <a:pt x="8934703" y="2316480"/>
                    <a:pt x="8827008" y="2316480"/>
                  </a:cubicBezTo>
                  <a:lnTo>
                    <a:pt x="195072" y="2316480"/>
                  </a:lnTo>
                  <a:cubicBezTo>
                    <a:pt x="87376" y="2316480"/>
                    <a:pt x="0" y="2229104"/>
                    <a:pt x="0" y="2121408"/>
                  </a:cubicBezTo>
                  <a:close/>
                </a:path>
              </a:pathLst>
            </a:custGeom>
            <a:solidFill>
              <a:srgbClr val="EAF1F5"/>
            </a:solidFill>
          </p:spPr>
        </p:sp>
      </p:grpSp>
      <p:grpSp>
        <p:nvGrpSpPr>
          <p:cNvPr name="Group 8" id="8"/>
          <p:cNvGrpSpPr/>
          <p:nvPr/>
        </p:nvGrpSpPr>
        <p:grpSpPr>
          <a:xfrm rot="0">
            <a:off x="10881360" y="2743200"/>
            <a:ext cx="6217920" cy="1554480"/>
            <a:chOff x="0" y="0"/>
            <a:chExt cx="8290560" cy="2072640"/>
          </a:xfrm>
        </p:grpSpPr>
        <p:sp>
          <p:nvSpPr>
            <p:cNvPr name="Freeform 9" id="9"/>
            <p:cNvSpPr/>
            <p:nvPr/>
          </p:nvSpPr>
          <p:spPr>
            <a:xfrm flipH="false" flipV="false" rot="0">
              <a:off x="0" y="0"/>
              <a:ext cx="8290560" cy="2072640"/>
            </a:xfrm>
            <a:custGeom>
              <a:avLst/>
              <a:gdLst/>
              <a:ahLst/>
              <a:cxnLst/>
              <a:rect r="r" b="b" t="t" l="l"/>
              <a:pathLst>
                <a:path h="2072640" w="8290560">
                  <a:moveTo>
                    <a:pt x="0" y="0"/>
                  </a:moveTo>
                  <a:lnTo>
                    <a:pt x="8290560" y="0"/>
                  </a:lnTo>
                  <a:lnTo>
                    <a:pt x="8290560" y="2072640"/>
                  </a:lnTo>
                  <a:lnTo>
                    <a:pt x="0" y="2072640"/>
                  </a:lnTo>
                  <a:close/>
                </a:path>
              </a:pathLst>
            </a:custGeom>
            <a:blipFill>
              <a:blip r:embed="rId3">
                <a:alphaModFix amt="0"/>
              </a:blip>
              <a:stretch>
                <a:fillRect l="0" t="-27940" r="0" b="-27940"/>
              </a:stretch>
            </a:blipFill>
          </p:spPr>
        </p:sp>
        <p:sp>
          <p:nvSpPr>
            <p:cNvPr name="TextBox 10" id="10"/>
            <p:cNvSpPr txBox="true"/>
            <p:nvPr/>
          </p:nvSpPr>
          <p:spPr>
            <a:xfrm>
              <a:off x="0" y="-76200"/>
              <a:ext cx="8290560" cy="2148840"/>
            </a:xfrm>
            <a:prstGeom prst="rect">
              <a:avLst/>
            </a:prstGeom>
          </p:spPr>
          <p:txBody>
            <a:bodyPr anchor="ctr" rtlCol="false" tIns="0" lIns="0" bIns="0" rIns="0"/>
            <a:lstStyle/>
            <a:p>
              <a:pPr algn="l">
                <a:lnSpc>
                  <a:spcPts val="5280"/>
                </a:lnSpc>
              </a:pPr>
              <a:r>
                <a:rPr lang="en-US" b="true" sz="4400">
                  <a:solidFill>
                    <a:srgbClr val="031812"/>
                  </a:solidFill>
                  <a:latin typeface="Calibri (MS) Bold"/>
                  <a:ea typeface="Calibri (MS) Bold"/>
                  <a:cs typeface="Calibri (MS) Bold"/>
                  <a:sym typeface="Calibri (MS) Bold"/>
                </a:rPr>
                <a:t>Rs 7,000</a:t>
              </a:r>
            </a:p>
            <a:p>
              <a:pPr algn="l">
                <a:lnSpc>
                  <a:spcPts val="2879"/>
                </a:lnSpc>
              </a:pPr>
              <a:r>
                <a:rPr lang="en-US" sz="2400">
                  <a:solidFill>
                    <a:srgbClr val="031812"/>
                  </a:solidFill>
                  <a:latin typeface="Calibri (MS)"/>
                  <a:ea typeface="Calibri (MS)"/>
                  <a:cs typeface="Calibri (MS)"/>
                  <a:sym typeface="Calibri (MS)"/>
                </a:rPr>
                <a:t>median, weighted and unweighted</a:t>
              </a:r>
            </a:p>
          </p:txBody>
        </p:sp>
      </p:grpSp>
      <p:grpSp>
        <p:nvGrpSpPr>
          <p:cNvPr name="Group 11" id="11"/>
          <p:cNvGrpSpPr/>
          <p:nvPr/>
        </p:nvGrpSpPr>
        <p:grpSpPr>
          <a:xfrm rot="0">
            <a:off x="10607040" y="4572000"/>
            <a:ext cx="6766560" cy="1737360"/>
            <a:chOff x="0" y="0"/>
            <a:chExt cx="9022080" cy="2316480"/>
          </a:xfrm>
        </p:grpSpPr>
        <p:sp>
          <p:nvSpPr>
            <p:cNvPr name="Freeform 12" id="12"/>
            <p:cNvSpPr/>
            <p:nvPr/>
          </p:nvSpPr>
          <p:spPr>
            <a:xfrm flipH="false" flipV="false" rot="0">
              <a:off x="0" y="0"/>
              <a:ext cx="9022080" cy="2316480"/>
            </a:xfrm>
            <a:custGeom>
              <a:avLst/>
              <a:gdLst/>
              <a:ahLst/>
              <a:cxnLst/>
              <a:rect r="r" b="b" t="t" l="l"/>
              <a:pathLst>
                <a:path h="2316480" w="9022080">
                  <a:moveTo>
                    <a:pt x="0" y="195072"/>
                  </a:moveTo>
                  <a:cubicBezTo>
                    <a:pt x="0" y="87376"/>
                    <a:pt x="87376" y="0"/>
                    <a:pt x="195072" y="0"/>
                  </a:cubicBezTo>
                  <a:lnTo>
                    <a:pt x="8827008" y="0"/>
                  </a:lnTo>
                  <a:cubicBezTo>
                    <a:pt x="8934703" y="0"/>
                    <a:pt x="9022080" y="87376"/>
                    <a:pt x="9022080" y="195072"/>
                  </a:cubicBezTo>
                  <a:lnTo>
                    <a:pt x="9022080" y="2121408"/>
                  </a:lnTo>
                  <a:cubicBezTo>
                    <a:pt x="9022080" y="2229104"/>
                    <a:pt x="8934703" y="2316480"/>
                    <a:pt x="8827008" y="2316480"/>
                  </a:cubicBezTo>
                  <a:lnTo>
                    <a:pt x="195072" y="2316480"/>
                  </a:lnTo>
                  <a:cubicBezTo>
                    <a:pt x="87376" y="2316480"/>
                    <a:pt x="0" y="2229104"/>
                    <a:pt x="0" y="2121408"/>
                  </a:cubicBezTo>
                  <a:close/>
                </a:path>
              </a:pathLst>
            </a:custGeom>
            <a:solidFill>
              <a:srgbClr val="EAF1F5"/>
            </a:solidFill>
          </p:spPr>
        </p:sp>
      </p:grpSp>
      <p:grpSp>
        <p:nvGrpSpPr>
          <p:cNvPr name="Group 13" id="13"/>
          <p:cNvGrpSpPr/>
          <p:nvPr/>
        </p:nvGrpSpPr>
        <p:grpSpPr>
          <a:xfrm rot="0">
            <a:off x="10881360" y="4663440"/>
            <a:ext cx="6217920" cy="1554480"/>
            <a:chOff x="0" y="0"/>
            <a:chExt cx="8290560" cy="2072640"/>
          </a:xfrm>
        </p:grpSpPr>
        <p:sp>
          <p:nvSpPr>
            <p:cNvPr name="Freeform 14" id="14"/>
            <p:cNvSpPr/>
            <p:nvPr/>
          </p:nvSpPr>
          <p:spPr>
            <a:xfrm flipH="false" flipV="false" rot="0">
              <a:off x="0" y="0"/>
              <a:ext cx="8290560" cy="2072640"/>
            </a:xfrm>
            <a:custGeom>
              <a:avLst/>
              <a:gdLst/>
              <a:ahLst/>
              <a:cxnLst/>
              <a:rect r="r" b="b" t="t" l="l"/>
              <a:pathLst>
                <a:path h="2072640" w="8290560">
                  <a:moveTo>
                    <a:pt x="0" y="0"/>
                  </a:moveTo>
                  <a:lnTo>
                    <a:pt x="8290560" y="0"/>
                  </a:lnTo>
                  <a:lnTo>
                    <a:pt x="8290560" y="2072640"/>
                  </a:lnTo>
                  <a:lnTo>
                    <a:pt x="0" y="2072640"/>
                  </a:lnTo>
                  <a:close/>
                </a:path>
              </a:pathLst>
            </a:custGeom>
            <a:blipFill>
              <a:blip r:embed="rId3">
                <a:alphaModFix amt="0"/>
              </a:blip>
              <a:stretch>
                <a:fillRect l="0" t="-27940" r="0" b="-27940"/>
              </a:stretch>
            </a:blipFill>
          </p:spPr>
        </p:sp>
        <p:sp>
          <p:nvSpPr>
            <p:cNvPr name="TextBox 15" id="15"/>
            <p:cNvSpPr txBox="true"/>
            <p:nvPr/>
          </p:nvSpPr>
          <p:spPr>
            <a:xfrm>
              <a:off x="0" y="-76200"/>
              <a:ext cx="8290560" cy="2148840"/>
            </a:xfrm>
            <a:prstGeom prst="rect">
              <a:avLst/>
            </a:prstGeom>
          </p:spPr>
          <p:txBody>
            <a:bodyPr anchor="ctr" rtlCol="false" tIns="0" lIns="0" bIns="0" rIns="0"/>
            <a:lstStyle/>
            <a:p>
              <a:pPr algn="l">
                <a:lnSpc>
                  <a:spcPts val="5280"/>
                </a:lnSpc>
              </a:pPr>
              <a:r>
                <a:rPr lang="en-US" b="true" sz="4400">
                  <a:solidFill>
                    <a:srgbClr val="031812"/>
                  </a:solidFill>
                  <a:latin typeface="Calibri (MS) Bold"/>
                  <a:ea typeface="Calibri (MS) Bold"/>
                  <a:cs typeface="Calibri (MS) Bold"/>
                  <a:sym typeface="Calibri (MS) Bold"/>
                </a:rPr>
                <a:t>Rs 2,500–25,000</a:t>
              </a:r>
            </a:p>
            <a:p>
              <a:pPr algn="l">
                <a:lnSpc>
                  <a:spcPts val="2879"/>
                </a:lnSpc>
              </a:pPr>
              <a:r>
                <a:rPr lang="en-US" sz="2400">
                  <a:solidFill>
                    <a:srgbClr val="031812"/>
                  </a:solidFill>
                  <a:latin typeface="Calibri (MS)"/>
                  <a:ea typeface="Calibri (MS)"/>
                  <a:cs typeface="Calibri (MS)"/>
                  <a:sym typeface="Calibri (MS)"/>
                </a:rPr>
                <a:t>10th to 90th percentile (ratio 10.00)</a:t>
              </a:r>
            </a:p>
          </p:txBody>
        </p:sp>
      </p:grpSp>
      <p:grpSp>
        <p:nvGrpSpPr>
          <p:cNvPr name="Group 16" id="16"/>
          <p:cNvGrpSpPr/>
          <p:nvPr/>
        </p:nvGrpSpPr>
        <p:grpSpPr>
          <a:xfrm rot="0">
            <a:off x="10607040" y="6492240"/>
            <a:ext cx="6766560" cy="1737360"/>
            <a:chOff x="0" y="0"/>
            <a:chExt cx="9022080" cy="2316480"/>
          </a:xfrm>
        </p:grpSpPr>
        <p:sp>
          <p:nvSpPr>
            <p:cNvPr name="Freeform 17" id="17"/>
            <p:cNvSpPr/>
            <p:nvPr/>
          </p:nvSpPr>
          <p:spPr>
            <a:xfrm flipH="false" flipV="false" rot="0">
              <a:off x="0" y="0"/>
              <a:ext cx="9022080" cy="2316480"/>
            </a:xfrm>
            <a:custGeom>
              <a:avLst/>
              <a:gdLst/>
              <a:ahLst/>
              <a:cxnLst/>
              <a:rect r="r" b="b" t="t" l="l"/>
              <a:pathLst>
                <a:path h="2316480" w="9022080">
                  <a:moveTo>
                    <a:pt x="0" y="195072"/>
                  </a:moveTo>
                  <a:cubicBezTo>
                    <a:pt x="0" y="87376"/>
                    <a:pt x="87376" y="0"/>
                    <a:pt x="195072" y="0"/>
                  </a:cubicBezTo>
                  <a:lnTo>
                    <a:pt x="8827008" y="0"/>
                  </a:lnTo>
                  <a:cubicBezTo>
                    <a:pt x="8934703" y="0"/>
                    <a:pt x="9022080" y="87376"/>
                    <a:pt x="9022080" y="195072"/>
                  </a:cubicBezTo>
                  <a:lnTo>
                    <a:pt x="9022080" y="2121408"/>
                  </a:lnTo>
                  <a:cubicBezTo>
                    <a:pt x="9022080" y="2229104"/>
                    <a:pt x="8934703" y="2316480"/>
                    <a:pt x="8827008" y="2316480"/>
                  </a:cubicBezTo>
                  <a:lnTo>
                    <a:pt x="195072" y="2316480"/>
                  </a:lnTo>
                  <a:cubicBezTo>
                    <a:pt x="87376" y="2316480"/>
                    <a:pt x="0" y="2229104"/>
                    <a:pt x="0" y="2121408"/>
                  </a:cubicBezTo>
                  <a:close/>
                </a:path>
              </a:pathLst>
            </a:custGeom>
            <a:solidFill>
              <a:srgbClr val="EAF1F5"/>
            </a:solidFill>
          </p:spPr>
        </p:sp>
      </p:grpSp>
      <p:grpSp>
        <p:nvGrpSpPr>
          <p:cNvPr name="Group 18" id="18"/>
          <p:cNvGrpSpPr/>
          <p:nvPr/>
        </p:nvGrpSpPr>
        <p:grpSpPr>
          <a:xfrm rot="0">
            <a:off x="10881360" y="6583680"/>
            <a:ext cx="6217920" cy="1554480"/>
            <a:chOff x="0" y="0"/>
            <a:chExt cx="8290560" cy="2072640"/>
          </a:xfrm>
        </p:grpSpPr>
        <p:sp>
          <p:nvSpPr>
            <p:cNvPr name="Freeform 19" id="19"/>
            <p:cNvSpPr/>
            <p:nvPr/>
          </p:nvSpPr>
          <p:spPr>
            <a:xfrm flipH="false" flipV="false" rot="0">
              <a:off x="0" y="0"/>
              <a:ext cx="8290560" cy="2072640"/>
            </a:xfrm>
            <a:custGeom>
              <a:avLst/>
              <a:gdLst/>
              <a:ahLst/>
              <a:cxnLst/>
              <a:rect r="r" b="b" t="t" l="l"/>
              <a:pathLst>
                <a:path h="2072640" w="8290560">
                  <a:moveTo>
                    <a:pt x="0" y="0"/>
                  </a:moveTo>
                  <a:lnTo>
                    <a:pt x="8290560" y="0"/>
                  </a:lnTo>
                  <a:lnTo>
                    <a:pt x="8290560" y="2072640"/>
                  </a:lnTo>
                  <a:lnTo>
                    <a:pt x="0" y="2072640"/>
                  </a:lnTo>
                  <a:close/>
                </a:path>
              </a:pathLst>
            </a:custGeom>
            <a:blipFill>
              <a:blip r:embed="rId3">
                <a:alphaModFix amt="0"/>
              </a:blip>
              <a:stretch>
                <a:fillRect l="0" t="-27940" r="0" b="-27940"/>
              </a:stretch>
            </a:blipFill>
          </p:spPr>
        </p:sp>
        <p:sp>
          <p:nvSpPr>
            <p:cNvPr name="TextBox 20" id="20"/>
            <p:cNvSpPr txBox="true"/>
            <p:nvPr/>
          </p:nvSpPr>
          <p:spPr>
            <a:xfrm>
              <a:off x="0" y="-76200"/>
              <a:ext cx="8290560" cy="2148840"/>
            </a:xfrm>
            <a:prstGeom prst="rect">
              <a:avLst/>
            </a:prstGeom>
          </p:spPr>
          <p:txBody>
            <a:bodyPr anchor="ctr" rtlCol="false" tIns="0" lIns="0" bIns="0" rIns="0"/>
            <a:lstStyle/>
            <a:p>
              <a:pPr algn="l">
                <a:lnSpc>
                  <a:spcPts val="5280"/>
                </a:lnSpc>
              </a:pPr>
              <a:r>
                <a:rPr lang="en-US" b="true" sz="4400">
                  <a:solidFill>
                    <a:srgbClr val="031812"/>
                  </a:solidFill>
                  <a:latin typeface="Calibri (MS) Bold"/>
                  <a:ea typeface="Calibri (MS) Bold"/>
                  <a:cs typeface="Calibri (MS) Bold"/>
                  <a:sym typeface="Calibri (MS) Bold"/>
                </a:rPr>
                <a:t>4,912</a:t>
              </a:r>
            </a:p>
            <a:p>
              <a:pPr algn="l">
                <a:lnSpc>
                  <a:spcPts val="2879"/>
                </a:lnSpc>
              </a:pPr>
              <a:r>
                <a:rPr lang="en-US" sz="2400">
                  <a:solidFill>
                    <a:srgbClr val="031812"/>
                  </a:solidFill>
                  <a:latin typeface="Calibri (MS)"/>
                  <a:ea typeface="Calibri (MS)"/>
                  <a:cs typeface="Calibri (MS)"/>
                  <a:sym typeface="Calibri (MS)"/>
                </a:rPr>
                <a:t>students; 3 outside Rs 100–1,000,000 left out of the histogram</a:t>
              </a:r>
            </a:p>
          </p:txBody>
        </p:sp>
      </p:grpSp>
      <p:grpSp>
        <p:nvGrpSpPr>
          <p:cNvPr name="Group 21" id="21"/>
          <p:cNvGrpSpPr/>
          <p:nvPr/>
        </p:nvGrpSpPr>
        <p:grpSpPr>
          <a:xfrm rot="0">
            <a:off x="914400" y="8595360"/>
            <a:ext cx="16459200" cy="640080"/>
            <a:chOff x="0" y="0"/>
            <a:chExt cx="21945600" cy="853440"/>
          </a:xfrm>
        </p:grpSpPr>
        <p:sp>
          <p:nvSpPr>
            <p:cNvPr name="Freeform 22" id="22"/>
            <p:cNvSpPr/>
            <p:nvPr/>
          </p:nvSpPr>
          <p:spPr>
            <a:xfrm flipH="false" flipV="false" rot="0">
              <a:off x="0" y="0"/>
              <a:ext cx="21945600" cy="853440"/>
            </a:xfrm>
            <a:custGeom>
              <a:avLst/>
              <a:gdLst/>
              <a:ahLst/>
              <a:cxnLst/>
              <a:rect r="r" b="b" t="t" l="l"/>
              <a:pathLst>
                <a:path h="853440" w="21945600">
                  <a:moveTo>
                    <a:pt x="0" y="0"/>
                  </a:moveTo>
                  <a:lnTo>
                    <a:pt x="21945600" y="0"/>
                  </a:lnTo>
                  <a:lnTo>
                    <a:pt x="21945600" y="853440"/>
                  </a:lnTo>
                  <a:lnTo>
                    <a:pt x="0" y="853440"/>
                  </a:lnTo>
                  <a:close/>
                </a:path>
              </a:pathLst>
            </a:custGeom>
            <a:blipFill>
              <a:blip r:embed="rId3">
                <a:alphaModFix amt="0"/>
              </a:blip>
              <a:stretch>
                <a:fillRect l="0" t="-451043" r="0" b="-451043"/>
              </a:stretch>
            </a:blipFill>
          </p:spPr>
        </p:sp>
        <p:sp>
          <p:nvSpPr>
            <p:cNvPr name="TextBox 23" id="23"/>
            <p:cNvSpPr txBox="true"/>
            <p:nvPr/>
          </p:nvSpPr>
          <p:spPr>
            <a:xfrm>
              <a:off x="0" y="-38100"/>
              <a:ext cx="21945600" cy="891540"/>
            </a:xfrm>
            <a:prstGeom prst="rect">
              <a:avLst/>
            </a:prstGeom>
          </p:spPr>
          <p:txBody>
            <a:bodyPr anchor="ctr" rtlCol="false" tIns="0" lIns="0" bIns="0" rIns="0"/>
            <a:lstStyle/>
            <a:p>
              <a:pPr algn="l">
                <a:lnSpc>
                  <a:spcPts val="2879"/>
                </a:lnSpc>
              </a:pPr>
              <a:r>
                <a:rPr lang="en-US" sz="2400">
                  <a:solidFill>
                    <a:srgbClr val="031812"/>
                  </a:solidFill>
                  <a:latin typeface="Calibri (MS)"/>
                  <a:ea typeface="Calibri (MS)"/>
                  <a:cs typeface="Calibri (MS)"/>
                  <a:sym typeface="Calibri (MS)"/>
                </a:rPr>
                <a:t>Python rebuild matches R: women aged 15–19 = 52.6% in both; band tables agree to one decimal.</a:t>
              </a:r>
            </a:p>
          </p:txBody>
        </p:sp>
      </p:grpSp>
      <p:sp>
        <p:nvSpPr>
          <p:cNvPr name="TextBox 24" id="24"/>
          <p:cNvSpPr txBox="true"/>
          <p:nvPr/>
        </p:nvSpPr>
        <p:spPr>
          <a:xfrm rot="0">
            <a:off x="16550640" y="9517380"/>
            <a:ext cx="731520" cy="495300"/>
          </a:xfrm>
          <a:prstGeom prst="rect">
            <a:avLst/>
          </a:prstGeom>
        </p:spPr>
        <p:txBody>
          <a:bodyPr anchor="t" rtlCol="false" tIns="0" lIns="0" bIns="0" rIns="0">
            <a:spAutoFit/>
          </a:bodyPr>
          <a:lstStyle/>
          <a:p>
            <a:pPr algn="l">
              <a:lnSpc>
                <a:spcPts val="2400"/>
              </a:lnSpc>
            </a:pPr>
            <a:r>
              <a:rPr lang="en-US" sz="2000">
                <a:solidFill>
                  <a:srgbClr val="5B6B76"/>
                </a:solidFill>
                <a:latin typeface="Calibri (MS)"/>
                <a:ea typeface="Calibri (MS)"/>
                <a:cs typeface="Calibri (MS)"/>
                <a:sym typeface="Calibri (MS)"/>
              </a:rPr>
              <a:t>4</a:t>
            </a:r>
          </a:p>
        </p:txBody>
      </p:sp>
      <p:grpSp>
        <p:nvGrpSpPr>
          <p:cNvPr name="Group 25" id="25"/>
          <p:cNvGrpSpPr/>
          <p:nvPr/>
        </p:nvGrpSpPr>
        <p:grpSpPr>
          <a:xfrm rot="0">
            <a:off x="914400" y="2480310"/>
            <a:ext cx="9473184" cy="5920740"/>
            <a:chOff x="0" y="0"/>
            <a:chExt cx="12630912" cy="7894320"/>
          </a:xfrm>
        </p:grpSpPr>
        <p:sp>
          <p:nvSpPr>
            <p:cNvPr name="Freeform 26" id="26"/>
            <p:cNvSpPr/>
            <p:nvPr/>
          </p:nvSpPr>
          <p:spPr>
            <a:xfrm flipH="false" flipV="false" rot="0">
              <a:off x="0" y="0"/>
              <a:ext cx="12630912" cy="7894320"/>
            </a:xfrm>
            <a:custGeom>
              <a:avLst/>
              <a:gdLst/>
              <a:ahLst/>
              <a:cxnLst/>
              <a:rect r="r" b="b" t="t" l="l"/>
              <a:pathLst>
                <a:path h="7894320" w="12630912">
                  <a:moveTo>
                    <a:pt x="0" y="0"/>
                  </a:moveTo>
                  <a:lnTo>
                    <a:pt x="12630912" y="0"/>
                  </a:lnTo>
                  <a:lnTo>
                    <a:pt x="12630912" y="7894320"/>
                  </a:lnTo>
                  <a:lnTo>
                    <a:pt x="0" y="7894320"/>
                  </a:lnTo>
                  <a:lnTo>
                    <a:pt x="0" y="0"/>
                  </a:lnTo>
                  <a:close/>
                </a:path>
              </a:pathLst>
            </a:custGeom>
            <a:blipFill>
              <a:blip r:embed="rId4"/>
              <a:stretch>
                <a:fillRect l="0" t="0" r="0" b="0"/>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DAHZATlK3cE</dc:identifier>
  <dcterms:modified xsi:type="dcterms:W3CDTF">2011-08-01T06:04:30Z</dcterms:modified>
  <cp:revision>1</cp:revision>
  <dc:title>FA24-BEDS-084.pptx</dc:title>
</cp:coreProperties>
</file>